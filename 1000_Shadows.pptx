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34"/>
  </p:notesMasterIdLst>
  <p:sldIdLst>
    <p:sldId id="609" r:id="rId2"/>
    <p:sldId id="616" r:id="rId3"/>
    <p:sldId id="668" r:id="rId4"/>
    <p:sldId id="620" r:id="rId5"/>
    <p:sldId id="640" r:id="rId6"/>
    <p:sldId id="678" r:id="rId7"/>
    <p:sldId id="670" r:id="rId8"/>
    <p:sldId id="671" r:id="rId9"/>
    <p:sldId id="667" r:id="rId10"/>
    <p:sldId id="694" r:id="rId11"/>
    <p:sldId id="674" r:id="rId12"/>
    <p:sldId id="675" r:id="rId13"/>
    <p:sldId id="680" r:id="rId14"/>
    <p:sldId id="679" r:id="rId15"/>
    <p:sldId id="688" r:id="rId16"/>
    <p:sldId id="624" r:id="rId17"/>
    <p:sldId id="615" r:id="rId18"/>
    <p:sldId id="270" r:id="rId19"/>
    <p:sldId id="271" r:id="rId20"/>
    <p:sldId id="689" r:id="rId21"/>
    <p:sldId id="683" r:id="rId22"/>
    <p:sldId id="676" r:id="rId23"/>
    <p:sldId id="693" r:id="rId24"/>
    <p:sldId id="690" r:id="rId25"/>
    <p:sldId id="267" r:id="rId26"/>
    <p:sldId id="287" r:id="rId27"/>
    <p:sldId id="288" r:id="rId28"/>
    <p:sldId id="289" r:id="rId29"/>
    <p:sldId id="623" r:id="rId30"/>
    <p:sldId id="677" r:id="rId31"/>
    <p:sldId id="645" r:id="rId32"/>
    <p:sldId id="64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35"/>
    <p:restoredTop sz="81077"/>
  </p:normalViewPr>
  <p:slideViewPr>
    <p:cSldViewPr snapToGrid="0">
      <p:cViewPr varScale="1">
        <p:scale>
          <a:sx n="95" d="100"/>
          <a:sy n="95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5397407562108928E-2"/>
          <c:y val="1.5670553457484863E-2"/>
          <c:w val="0.90768864197536847"/>
          <c:h val="0.72648662659763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Named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Read all 10 partitions</c:v>
                </c:pt>
                <c:pt idx="1">
                  <c:v>Settings + Schedule</c:v>
                </c:pt>
                <c:pt idx="2">
                  <c:v>Settings Update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2B-254E-AA17-4B3CE17C74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AB007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2B-254E-AA17-4B3CE17C74DE}"/>
              </c:ext>
            </c:extLst>
          </c:dPt>
          <c:cat>
            <c:strRef>
              <c:f>Sheet1!$A$2:$A$4</c:f>
              <c:strCache>
                <c:ptCount val="3"/>
                <c:pt idx="0">
                  <c:v>Read all 10 partitions</c:v>
                </c:pt>
                <c:pt idx="1">
                  <c:v>Settings + Schedule</c:v>
                </c:pt>
                <c:pt idx="2">
                  <c:v>Settings Update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8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2B-254E-AA17-4B3CE17C7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2"/>
        <c:overlap val="-36"/>
        <c:axId val="1813959183"/>
        <c:axId val="1813486799"/>
      </c:barChart>
      <c:catAx>
        <c:axId val="1813959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3486799"/>
        <c:crosses val="autoZero"/>
        <c:auto val="1"/>
        <c:lblAlgn val="ctr"/>
        <c:lblOffset val="100"/>
        <c:noMultiLvlLbl val="0"/>
      </c:catAx>
      <c:valAx>
        <c:axId val="1813486799"/>
        <c:scaling>
          <c:orientation val="minMax"/>
          <c:max val="14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Estimated Units per logical action</a:t>
                </a:r>
              </a:p>
            </c:rich>
          </c:tx>
          <c:layout>
            <c:manualLayout>
              <c:xMode val="edge"/>
              <c:yMode val="edge"/>
              <c:x val="1.7364042622572025E-3"/>
              <c:y val="0.166875817405279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3959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65422631834919398"/>
          <c:y val="0.90706335044216146"/>
          <c:w val="0.31197385444337078"/>
          <c:h val="4.3865462445665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Estimated units per action</c:v>
          </c:tx>
          <c:spPr>
            <a:solidFill>
              <a:srgbClr val="00D6C7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B0070"/>
              </a:solidFill>
            </c:spPr>
            <c:extLst>
              <c:ext xmlns:c16="http://schemas.microsoft.com/office/drawing/2014/chart" uri="{C3380CC4-5D6E-409C-BE32-E72D297353CC}">
                <c16:uniqueId val="{00000001-CA7D-0C4C-BB5B-7AF9543A5395}"/>
              </c:ext>
            </c:extLst>
          </c:dPt>
          <c:dPt>
            <c:idx val="1"/>
            <c:invertIfNegative val="0"/>
            <c:bubble3D val="0"/>
            <c:spPr>
              <a:solidFill>
                <a:srgbClr val="942EFF"/>
              </a:solidFill>
            </c:spPr>
            <c:extLst>
              <c:ext xmlns:c16="http://schemas.microsoft.com/office/drawing/2014/chart" uri="{C3380CC4-5D6E-409C-BE32-E72D297353CC}">
                <c16:uniqueId val="{00000002-CA7D-0C4C-BB5B-7AF9543A53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FFFFFF"/>
                    </a:solidFill>
                    <a:latin typeface="Amazon Ember Display"/>
                    <a:ea typeface="Amazon Ember Display"/>
                    <a:cs typeface="Amazon Ember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Classic</c:v>
                </c:pt>
                <c:pt idx="1">
                  <c:v>Named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</c:v>
                </c:pt>
                <c:pt idx="1">
                  <c:v>4.3099999999999996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CA7D-0C4C-BB5B-7AF9543A53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4763">
              <a:solidFill>
                <a:srgbClr val="3A4654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Calls per action</c:v>
          </c:tx>
          <c:spPr>
            <a:solidFill>
              <a:srgbClr val="00D6C7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B0070"/>
              </a:solidFill>
            </c:spPr>
            <c:extLst>
              <c:ext xmlns:c16="http://schemas.microsoft.com/office/drawing/2014/chart" uri="{C3380CC4-5D6E-409C-BE32-E72D297353CC}">
                <c16:uniqueId val="{00000001-22CF-BC40-B905-B6F9C7DE5AA9}"/>
              </c:ext>
            </c:extLst>
          </c:dPt>
          <c:dPt>
            <c:idx val="1"/>
            <c:invertIfNegative val="0"/>
            <c:bubble3D val="0"/>
            <c:spPr>
              <a:solidFill>
                <a:srgbClr val="942EFF"/>
              </a:solidFill>
            </c:spPr>
            <c:extLst>
              <c:ext xmlns:c16="http://schemas.microsoft.com/office/drawing/2014/chart" uri="{C3380CC4-5D6E-409C-BE32-E72D297353CC}">
                <c16:uniqueId val="{00000003-22CF-BC40-B905-B6F9C7DE5A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FFFFFF"/>
                    </a:solidFill>
                    <a:latin typeface="Amazon Ember Display"/>
                    <a:ea typeface="Amazon Ember Display"/>
                    <a:cs typeface="Amazon Ember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Classic</c:v>
                </c:pt>
                <c:pt idx="1">
                  <c:v>Named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</c:v>
                </c:pt>
                <c:pt idx="1">
                  <c:v>2.68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2CF-BC40-B905-B6F9C7DE5A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4763">
              <a:solidFill>
                <a:srgbClr val="3A4654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Action p95 ms</c:v>
          </c:tx>
          <c:spPr>
            <a:solidFill>
              <a:srgbClr val="00D6C7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B0070"/>
              </a:solidFill>
            </c:spPr>
            <c:extLst>
              <c:ext xmlns:c16="http://schemas.microsoft.com/office/drawing/2014/chart" uri="{C3380CC4-5D6E-409C-BE32-E72D297353CC}">
                <c16:uniqueId val="{00000001-46C8-4449-B4BB-BCC4983B160E}"/>
              </c:ext>
            </c:extLst>
          </c:dPt>
          <c:dPt>
            <c:idx val="1"/>
            <c:invertIfNegative val="0"/>
            <c:bubble3D val="0"/>
            <c:spPr>
              <a:solidFill>
                <a:srgbClr val="942EFF"/>
              </a:solidFill>
            </c:spPr>
            <c:extLst>
              <c:ext xmlns:c16="http://schemas.microsoft.com/office/drawing/2014/chart" uri="{C3380CC4-5D6E-409C-BE32-E72D297353CC}">
                <c16:uniqueId val="{00000003-46C8-4449-B4BB-BCC4983B16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FFFFFF"/>
                    </a:solidFill>
                    <a:latin typeface="Amazon Ember Display"/>
                    <a:ea typeface="Amazon Ember Display"/>
                    <a:cs typeface="Amazon Ember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Classic</c:v>
                </c:pt>
                <c:pt idx="1">
                  <c:v>Named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141.30000000000001</c:v>
                </c:pt>
                <c:pt idx="1">
                  <c:v>719.3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6C8-4449-B4BB-BCC4983B16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4763">
              <a:solidFill>
                <a:srgbClr val="3A4654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63F66-5FA5-1143-9F3F-919773555C08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23EDB-C942-ED49-8E20-1A638E6E0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4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7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62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EC48-A2BC-EE48-6304-6E31DC8C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10F84-D938-600D-0D31-9176D5A31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57B31-EE42-2FCD-36E4-B3DADD2E5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2E919-9C69-6F43-C4ED-FDE4AA791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5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65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8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2EA5-A7D6-F95A-B3CF-DCD81BDB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3B615-3B19-ECF0-AD09-EC4A7A79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A6697-14E8-D0D3-E266-2AACF5960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C47C0-AA18-E93D-6534-74335D58E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17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07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BE441-6BD6-718F-B7AD-A1835252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B9C6E-6EBE-AB20-1983-1A3B4AEE9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4D2FC-3D5E-4E74-D969-CC541A65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31B60-51CF-7E15-4440-6AE5ACE76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73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2E16-6F74-1F56-1DD2-52AD3669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7A29C-94DD-64B7-BB68-DD946ED8E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F0F15-21F1-2047-900A-DB437C0E4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CEF75-FCFD-D2F9-30A6-8989100A35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59204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4264-D7D2-747C-98EB-24F1CE82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FBFA2-972E-39A4-90AE-5762E282F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3E323-936D-6B3B-3E09-650282812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D6549-F66D-9D16-78CD-EF2E04A2D5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3809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417A-6408-5A88-0C52-C3BA2A31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1FC94-1B6E-939C-B248-B57DA7EA9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48F49-F980-5094-2415-76842A497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A041E-D3E8-900C-A59F-1BBB34502B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048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23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204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23EDB-C942-ED49-8E20-1A638E6E08D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8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FF57E-BB3A-AEC0-B696-7B4C1F7E05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-1" y="0"/>
            <a:ext cx="12191999" cy="6857999"/>
          </a:xfrm>
          <a:prstGeom prst="rect">
            <a:avLst/>
          </a:prstGeom>
        </p:spPr>
      </p:pic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4EB6E3B8-E9BA-E14B-C774-675B2E513D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909" y="-1878571"/>
            <a:ext cx="10511618" cy="1393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Enter session title 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A89BAA2-6FD5-5D3C-33E2-A31608191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B73CDB15-D753-86B4-5B7E-F5E99542714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8A30556E-3620-AA19-5CC6-8D66FC591A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61883-D459-B07D-7C91-7B85F653C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1005EE7-BEE9-8A9E-65D0-EDF125F45B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2EAF72-2D3F-93E1-D03F-34DB08B56B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048E8E07-E21A-4B47-DF28-DDD92933877A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1383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ssion Titl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9E3731-32D7-5941-5B9C-330235042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306F47-F75A-E094-F378-8596F5875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3716-61A2-F3CA-F24E-DE267987A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736F04DF-3AC5-EBD3-58F9-4C43D87A19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B4E42576-352C-2BD6-1207-1E421B7326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769752D-808F-28AE-B5B1-75AC72BBF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3C547C9-6474-5F18-CEB2-C4159E7FB119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76801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C71F3-75B6-9C0E-8A09-19F38A64F4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306F47-F75A-E094-F378-8596F5875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1 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92B449A-5416-CD19-55E6-716FCEBA0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56C37542-82BD-A8E3-AF9C-BC610B67CC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6E40AEC-4583-06BB-4BD3-7538EF4DF0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D54F0366-B101-27F7-91AE-44638E627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1153ED5-0F25-AB68-21F6-BB5F2B94ED4D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5173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688E7E-560D-1F85-60AE-F11B53EB18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EF57A0F-E278-CD58-9703-2C36EBEE4F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75964A49-4B15-7572-0B46-92FB64D167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A7E3313-4259-1997-ED9D-5C3D97E230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1 name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A473B96F-ACDC-834E-D803-FE0EDB6F6B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9FD6071B-2B55-3490-FBFF-04599195AC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053E7BB-5481-BFB7-918F-461F372C2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71E0D03-F992-9A06-6CD0-5B6B2B522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30928163-28E6-5991-C1A6-E1CA2449A3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2F835719-9E79-F671-33DC-8067BC0155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BB2AB6A1-7FFB-2307-C367-4FDE413079EB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4611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lk 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DBD4F4-C352-6225-1A9A-7D96ED8F78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1D4A9EF-39A9-88DE-E1CB-1F5F6DD95004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419101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867C0016-2E0A-2B2E-A75E-E17CF5B59D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0666" y="2955755"/>
            <a:ext cx="10511618" cy="930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44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4F013C85-7FDD-B4DD-0D68-9E77ED6EEB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666" y="4327355"/>
            <a:ext cx="10511618" cy="75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Job title</a:t>
            </a:r>
          </a:p>
          <a:p>
            <a:pPr lvl="0"/>
            <a:r>
              <a:rPr lang="en-US" dirty="0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930634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60">
          <p15:clr>
            <a:srgbClr val="FBAE40"/>
          </p15:clr>
        </p15:guide>
        <p15:guide id="4" pos="7320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orient="horz" pos="39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646BA7-1A49-CCF3-A0BE-342BB194C3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68BA0C7-B18D-263C-C3CF-48AF849BFA7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22714A-D6D9-6D1D-6CC8-C5C662DCC0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428661"/>
            <a:ext cx="388818" cy="232516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B7A5E5-C62C-053C-1585-C3CD715A2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Section 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20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CBC6B-D110-CBDD-54ED-405A5EDDB6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68BA0C7-B18D-263C-C3CF-48AF849BFA7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22714A-D6D9-6D1D-6CC8-C5C662DCC0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428661"/>
            <a:ext cx="388818" cy="232516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B7A5E5-C62C-053C-1585-C3CD715A2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Section 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84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77E33-840C-F399-D2EE-3D01D153C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219214" cy="684276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68BA0C7-B18D-263C-C3CF-48AF849BFA7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22714A-D6D9-6D1D-6CC8-C5C662DCC0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428661"/>
            <a:ext cx="388818" cy="232516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B7A5E5-C62C-053C-1585-C3CD715A2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Section 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4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C2614ABB-5806-776E-27EA-3AA282A6B5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4447" y="1422541"/>
            <a:ext cx="6178623" cy="4376307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Agenda item 1</a:t>
            </a:r>
          </a:p>
          <a:p>
            <a:pPr lvl="0"/>
            <a:r>
              <a:rPr lang="en-US" dirty="0"/>
              <a:t>Agenda item 2</a:t>
            </a:r>
          </a:p>
          <a:p>
            <a:pPr lvl="0"/>
            <a:r>
              <a:rPr lang="en-US" dirty="0"/>
              <a:t>Agenda item 3</a:t>
            </a:r>
          </a:p>
          <a:p>
            <a:pPr lvl="0"/>
            <a:r>
              <a:rPr lang="en-US" dirty="0"/>
              <a:t>Agenda item 4</a:t>
            </a:r>
          </a:p>
          <a:p>
            <a:pPr lvl="0"/>
            <a:r>
              <a:rPr lang="en-US" dirty="0"/>
              <a:t>Agenda item 5</a:t>
            </a:r>
          </a:p>
          <a:p>
            <a:pPr lvl="0"/>
            <a:r>
              <a:rPr lang="en-US" dirty="0"/>
              <a:t>Agenda item 6</a:t>
            </a:r>
          </a:p>
          <a:p>
            <a:pPr lvl="0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9CD6638-D819-A534-1F0B-DCE42AE1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422541"/>
            <a:ext cx="2807684" cy="13545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68EC56-3574-289C-69AD-B11250A1CB65}"/>
              </a:ext>
            </a:extLst>
          </p:cNvPr>
          <p:cNvCxnSpPr>
            <a:cxnSpLocks/>
          </p:cNvCxnSpPr>
          <p:nvPr userDrawn="1"/>
        </p:nvCxnSpPr>
        <p:spPr>
          <a:xfrm>
            <a:off x="3443706" y="1349224"/>
            <a:ext cx="0" cy="4546609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78956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3043524"/>
            <a:ext cx="7300863" cy="26368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ligula </a:t>
            </a:r>
            <a:r>
              <a:rPr lang="en-US" err="1"/>
              <a:t>ultrices</a:t>
            </a:r>
            <a:r>
              <a:rPr lang="en-US"/>
              <a:t>, non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In non </a:t>
            </a:r>
            <a:r>
              <a:rPr lang="en-US" err="1"/>
              <a:t>nisl</a:t>
            </a:r>
            <a:r>
              <a:rPr lang="en-US"/>
              <a:t> a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dictum ac vitae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id </a:t>
            </a:r>
            <a:r>
              <a:rPr lang="en-US" err="1"/>
              <a:t>imperdiet</a:t>
            </a:r>
            <a:r>
              <a:rPr lang="en-US"/>
              <a:t> semper. In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at </a:t>
            </a:r>
            <a:r>
              <a:rPr lang="en-US" err="1"/>
              <a:t>mollis</a:t>
            </a:r>
            <a:r>
              <a:rPr lang="en-US"/>
              <a:t> nisi lacinia non. </a:t>
            </a:r>
            <a:r>
              <a:rPr lang="en-US" err="1"/>
              <a:t>Fusce</a:t>
            </a:r>
            <a:r>
              <a:rPr lang="en-US"/>
              <a:t> auctor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</a:t>
            </a:r>
          </a:p>
          <a:p>
            <a:pPr lv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96202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9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1566402"/>
            <a:ext cx="10532792" cy="42581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bulleted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Title, and bulleted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36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and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1842447"/>
            <a:ext cx="10532792" cy="42581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ligula </a:t>
            </a:r>
            <a:r>
              <a:rPr lang="en-US" dirty="0" err="1"/>
              <a:t>ultrices</a:t>
            </a:r>
            <a:r>
              <a:rPr lang="en-US" dirty="0"/>
              <a:t>, non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non </a:t>
            </a:r>
            <a:r>
              <a:rPr lang="en-US" dirty="0" err="1"/>
              <a:t>nisl</a:t>
            </a:r>
            <a:r>
              <a:rPr lang="en-US" dirty="0"/>
              <a:t> a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dictum ac vitae </a:t>
            </a:r>
            <a:r>
              <a:rPr lang="en-US" dirty="0" err="1"/>
              <a:t>mauris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id </a:t>
            </a:r>
            <a:r>
              <a:rPr lang="en-US" dirty="0" err="1"/>
              <a:t>imperdiet</a:t>
            </a:r>
            <a:r>
              <a:rPr lang="en-US" dirty="0"/>
              <a:t> semper. In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at </a:t>
            </a:r>
            <a:r>
              <a:rPr lang="en-US" dirty="0" err="1"/>
              <a:t>mollis</a:t>
            </a:r>
            <a:r>
              <a:rPr lang="en-US" dirty="0"/>
              <a:t> nisi lacinia non. </a:t>
            </a:r>
            <a:r>
              <a:rPr lang="en-US" dirty="0" err="1"/>
              <a:t>Fusce</a:t>
            </a:r>
            <a:r>
              <a:rPr lang="en-US" dirty="0"/>
              <a:t> auctor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Title, subtitle, and content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EF61C1D-9F0D-1627-6470-0253436BB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25" y="1148344"/>
            <a:ext cx="10532792" cy="3665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15752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1842447"/>
            <a:ext cx="10532792" cy="4258101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bulleted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Title, subtitle, and bulleted content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EF61C1D-9F0D-1627-6470-0253436BB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25" y="1148344"/>
            <a:ext cx="10532792" cy="3665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9728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and subtitle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EF61C1D-9F0D-1627-6470-0253436BB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25" y="1148344"/>
            <a:ext cx="10532792" cy="3665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76898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B4DF2EA-2CAE-A536-0033-834BA198C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8265" y="1726451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EYEBROW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0635684-1542-DAB7-1D30-9EBD6E21C7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5159" y="2214070"/>
            <a:ext cx="6396066" cy="26368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ligula </a:t>
            </a:r>
            <a:r>
              <a:rPr lang="en-US" err="1"/>
              <a:t>ultrices</a:t>
            </a:r>
            <a:r>
              <a:rPr lang="en-US"/>
              <a:t>, non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arcu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In non </a:t>
            </a:r>
            <a:r>
              <a:rPr lang="en-US" err="1"/>
              <a:t>nisl</a:t>
            </a:r>
            <a:r>
              <a:rPr lang="en-US"/>
              <a:t> a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dapibus</a:t>
            </a:r>
            <a:r>
              <a:rPr lang="en-US"/>
              <a:t> dictum ac vitae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id </a:t>
            </a:r>
            <a:r>
              <a:rPr lang="en-US" err="1"/>
              <a:t>imperdiet</a:t>
            </a:r>
            <a:r>
              <a:rPr lang="en-US"/>
              <a:t> semper. In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at </a:t>
            </a:r>
            <a:r>
              <a:rPr lang="en-US" err="1"/>
              <a:t>mollis</a:t>
            </a:r>
            <a:r>
              <a:rPr lang="en-US"/>
              <a:t> nisi lacinia non. </a:t>
            </a:r>
            <a:r>
              <a:rPr lang="en-US" err="1"/>
              <a:t>Fusce</a:t>
            </a:r>
            <a:r>
              <a:rPr lang="en-US"/>
              <a:t> auctor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</a:t>
            </a:r>
          </a:p>
          <a:p>
            <a:pPr lvl="0"/>
            <a:endParaRPr lang="en-US"/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D597510A-5687-FD07-A6CE-2C3408DF2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36" y="3876483"/>
            <a:ext cx="3591182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1D85D-5DC9-C06E-F026-12C2EF9D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049517"/>
            <a:ext cx="3591179" cy="16407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text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A9EDFC-6F60-B8D1-2895-DA3164A7CE7C}"/>
              </a:ext>
            </a:extLst>
          </p:cNvPr>
          <p:cNvCxnSpPr>
            <a:cxnSpLocks/>
          </p:cNvCxnSpPr>
          <p:nvPr userDrawn="1"/>
        </p:nvCxnSpPr>
        <p:spPr>
          <a:xfrm>
            <a:off x="4711707" y="1586429"/>
            <a:ext cx="0" cy="4018274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071593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row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0635684-1542-DAB7-1D30-9EBD6E21C7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2056" y="1106577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634A4CAF-90EC-E954-3BFB-6E43FD445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2056" y="1700906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37F65AD8-E4FD-4984-5FBA-EC5F6A685D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2056" y="2890611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DCE340B5-AF30-C9FD-EA84-87B943FC7B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2056" y="3484940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344ABFA-783F-F7DE-C825-0026F5EB31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2056" y="4653183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D4EB6E-2D83-811D-C211-5CA9EC0D08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2056" y="5247512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185E1-613C-FCB0-89FC-C3529FC25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106577"/>
            <a:ext cx="3591179" cy="16407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306D2-2A2C-2752-8628-E478821D9BEE}"/>
              </a:ext>
            </a:extLst>
          </p:cNvPr>
          <p:cNvCxnSpPr>
            <a:cxnSpLocks/>
          </p:cNvCxnSpPr>
          <p:nvPr userDrawn="1"/>
        </p:nvCxnSpPr>
        <p:spPr>
          <a:xfrm>
            <a:off x="4185978" y="1212574"/>
            <a:ext cx="0" cy="4721087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839382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4B4DF2EA-2CAE-A536-0033-834BA198C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50" y="1726451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EYEBROW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D597510A-5687-FD07-A6CE-2C3408DF2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621" y="3876483"/>
            <a:ext cx="3591182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EFE7A93F-D4FC-8E79-7A97-3BD5405D78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6144" y="1726451"/>
            <a:ext cx="6396066" cy="3878252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ts val="2600"/>
              </a:lnSpc>
              <a:spcBef>
                <a:spcPct val="0"/>
              </a:spcBef>
              <a:spcAft>
                <a:spcPts val="260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2000" b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ts val="2600"/>
              </a:lnSpc>
              <a:spcBef>
                <a:spcPct val="0"/>
              </a:spcBef>
              <a:spcAft>
                <a:spcPts val="2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Lorem ipsum dolor sit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amet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consectetur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adipiscing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elit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.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Pellentesque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vulputate</a:t>
            </a: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kumimoji="0" lang="en-US" sz="2000" b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</a:t>
            </a:r>
            <a:endParaRPr kumimoji="0" lang="en-US" sz="20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marL="342900" indent="-342900">
              <a:lnSpc>
                <a:spcPts val="2600"/>
              </a:lnSpc>
              <a:spcAft>
                <a:spcPts val="2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Lorem ipsum dolor sit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amet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consectetur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adipiscing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.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Pellentesque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vulputate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</a:t>
            </a:r>
            <a:endParaRPr lang="en-US" sz="2000" b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marL="342900" indent="-342900">
              <a:lnSpc>
                <a:spcPts val="2600"/>
              </a:lnSpc>
              <a:spcAft>
                <a:spcPts val="2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Lorem ipsum dolor sit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amet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consectetur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adipiscing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.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Pellentesque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vulputate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</a:t>
            </a:r>
            <a:endParaRPr lang="en-US" sz="2000" b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marL="342900" indent="-342900">
              <a:lnSpc>
                <a:spcPts val="2600"/>
              </a:lnSpc>
              <a:spcAft>
                <a:spcPts val="2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Lorem ipsum dolor sit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amet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consectetur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adipiscing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elit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.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Pellentesque</a:t>
            </a:r>
            <a:r>
              <a:rPr lang="en-US" sz="2000" b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 </a:t>
            </a:r>
            <a:r>
              <a:rPr lang="en-US" sz="2000" b="0" err="1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vulputate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FB630-9BEB-632E-FF46-39EDD9136D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049517"/>
            <a:ext cx="3591179" cy="16407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FEC57B-EBC3-8BC7-BD68-066721DD0A55}"/>
              </a:ext>
            </a:extLst>
          </p:cNvPr>
          <p:cNvCxnSpPr>
            <a:cxnSpLocks/>
          </p:cNvCxnSpPr>
          <p:nvPr userDrawn="1"/>
        </p:nvCxnSpPr>
        <p:spPr>
          <a:xfrm>
            <a:off x="4722692" y="1586429"/>
            <a:ext cx="0" cy="4018274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081406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oints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FDA123FF-B7BF-8287-C298-B0F58E4C53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0191" y="3017839"/>
            <a:ext cx="3336188" cy="4111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567" y="3017839"/>
            <a:ext cx="3336188" cy="4111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4D93B6E7-8048-C338-5C72-FE30BD6E56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02991" y="3017839"/>
            <a:ext cx="3336188" cy="4111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D1E8BD7-FDA5-BFE8-0AAA-D8B5085A1D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624191"/>
            <a:ext cx="3336925" cy="1109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56567" y="3624191"/>
            <a:ext cx="3336925" cy="1109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D0238D2F-7794-48FD-5C85-A87C72E7AD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02991" y="3624191"/>
            <a:ext cx="3336925" cy="110966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0CA0403-D8D3-E480-D085-45EEF8BD3D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807" y="1550105"/>
            <a:ext cx="10551578" cy="5309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3 points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73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FDA123FF-B7BF-8287-C298-B0F58E4C53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426" y="2788213"/>
            <a:ext cx="3336188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48637" y="2788213"/>
            <a:ext cx="3336188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D1E8BD7-FDA5-BFE8-0AAA-D8B5085A1D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7426" y="3624191"/>
            <a:ext cx="3336925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47900" y="3624191"/>
            <a:ext cx="3336925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4508C-2F0D-27E2-2A69-699F49E26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550104"/>
            <a:ext cx="10017785" cy="7177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2 column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4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1842447"/>
            <a:ext cx="5038766" cy="42581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ligula </a:t>
            </a:r>
            <a:r>
              <a:rPr lang="en-US" dirty="0" err="1"/>
              <a:t>ultrices</a:t>
            </a:r>
            <a:r>
              <a:rPr lang="en-US" dirty="0"/>
              <a:t>, non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non </a:t>
            </a:r>
            <a:r>
              <a:rPr lang="en-US" dirty="0" err="1"/>
              <a:t>nisl</a:t>
            </a:r>
            <a:r>
              <a:rPr lang="en-US" dirty="0"/>
              <a:t> a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dictum ac vitae </a:t>
            </a:r>
            <a:r>
              <a:rPr lang="en-US" dirty="0" err="1"/>
              <a:t>mauris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id </a:t>
            </a:r>
            <a:r>
              <a:rPr lang="en-US" dirty="0" err="1"/>
              <a:t>imperdiet</a:t>
            </a:r>
            <a:r>
              <a:rPr lang="en-US" dirty="0"/>
              <a:t> semper. In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at </a:t>
            </a:r>
            <a:r>
              <a:rPr lang="en-US" dirty="0" err="1"/>
              <a:t>mollis</a:t>
            </a:r>
            <a:r>
              <a:rPr lang="en-US" dirty="0"/>
              <a:t> nisi lacinia non. </a:t>
            </a:r>
            <a:r>
              <a:rPr lang="en-US" dirty="0" err="1"/>
              <a:t>Fusce</a:t>
            </a:r>
            <a:r>
              <a:rPr lang="en-US" dirty="0"/>
              <a:t> auctor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Title, subtitle, and two column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EF61C1D-9F0D-1627-6470-0253436BB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25" y="1148344"/>
            <a:ext cx="10532792" cy="3665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63D7A478-413F-B07E-5E47-FB558DF84E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96251" y="1842447"/>
            <a:ext cx="5038766" cy="42581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ligula </a:t>
            </a:r>
            <a:r>
              <a:rPr lang="en-US" dirty="0" err="1"/>
              <a:t>ultrices</a:t>
            </a:r>
            <a:r>
              <a:rPr lang="en-US" dirty="0"/>
              <a:t>, non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non </a:t>
            </a:r>
            <a:r>
              <a:rPr lang="en-US" dirty="0" err="1"/>
              <a:t>nisl</a:t>
            </a:r>
            <a:r>
              <a:rPr lang="en-US" dirty="0"/>
              <a:t> a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dictum ac vitae </a:t>
            </a:r>
            <a:r>
              <a:rPr lang="en-US" dirty="0" err="1"/>
              <a:t>mauris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id </a:t>
            </a:r>
            <a:r>
              <a:rPr lang="en-US" dirty="0" err="1"/>
              <a:t>imperdiet</a:t>
            </a:r>
            <a:r>
              <a:rPr lang="en-US" dirty="0"/>
              <a:t> semper. In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at </a:t>
            </a:r>
            <a:r>
              <a:rPr lang="en-US" dirty="0" err="1"/>
              <a:t>mollis</a:t>
            </a:r>
            <a:r>
              <a:rPr lang="en-US" dirty="0"/>
              <a:t> nisi lacinia non. </a:t>
            </a:r>
            <a:r>
              <a:rPr lang="en-US" dirty="0" err="1"/>
              <a:t>Fusce</a:t>
            </a:r>
            <a:r>
              <a:rPr lang="en-US" dirty="0"/>
              <a:t> auctor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61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FDA123FF-B7BF-8287-C298-B0F58E4C53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109" y="2788213"/>
            <a:ext cx="2863866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2966" y="2788213"/>
            <a:ext cx="2863865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D1E8BD7-FDA5-BFE8-0AAA-D8B5085A1D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110" y="3624191"/>
            <a:ext cx="2863866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32968" y="3624191"/>
            <a:ext cx="2863866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011CB6F-3F94-DC6A-29BB-1B7A0F3B8C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51656" y="2788213"/>
            <a:ext cx="2863865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42DB03B-CCC9-C3A9-0E68-734ED9FAE2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51657" y="3624191"/>
            <a:ext cx="286386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722561-B1E0-285A-4037-20636C5916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550104"/>
            <a:ext cx="10017785" cy="7177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3 column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14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x2 column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356" y="1544404"/>
            <a:ext cx="2829067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00358" y="2233382"/>
            <a:ext cx="261070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7738712-33DD-CFDE-10D7-31F3F70DC8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08574" y="1544404"/>
            <a:ext cx="2829067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1F1EE16-B454-545C-69BE-7C3321C83F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08576" y="2233382"/>
            <a:ext cx="261070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6663C62C-AC24-84F5-051D-738253F7948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00356" y="3919468"/>
            <a:ext cx="2829067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A2C5E56C-1A90-63E7-1531-1E93392952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00358" y="4608446"/>
            <a:ext cx="261070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6D94D881-186D-3B8B-5FE6-0629728AFA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08574" y="3919468"/>
            <a:ext cx="2829067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4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0714E946-886B-5901-56E0-B56EF06122E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08576" y="4608446"/>
            <a:ext cx="261070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9BCE08-0ACB-1BED-327E-0D06457FB9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00" y="1550104"/>
            <a:ext cx="3167943" cy="27805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2x2 column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97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x2 column w boxes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84862" y="1425651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84864" y="2114629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999EE95E-4EFC-FB7B-14F9-24CAB4FEEF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84862" y="4026347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0138DD-073B-683F-F960-155017654C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4864" y="4715325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18FBA74-DAAA-E129-8851-6CB983EB90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19948" y="1425651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C870C8EF-4B14-2D07-7D95-92D913A607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19950" y="2114629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183B6973-2CB8-4B71-D683-BC770EC994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19948" y="4026347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4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6E51BEE7-3A11-AEB2-1488-A173CF807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9950" y="4715325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FA4C5-1D61-90E9-CCF0-3D9045D97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200" y="1550104"/>
            <a:ext cx="3167943" cy="27805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2x2 column content</a:t>
            </a:r>
            <a:endParaRPr lang="en-US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E27F884B-5719-F56F-2D78-569DD098A44E}"/>
              </a:ext>
            </a:extLst>
          </p:cNvPr>
          <p:cNvSpPr/>
          <p:nvPr userDrawn="1"/>
        </p:nvSpPr>
        <p:spPr>
          <a:xfrm>
            <a:off x="4700565" y="1128216"/>
            <a:ext cx="2829066" cy="2300784"/>
          </a:xfrm>
          <a:prstGeom prst="roundRect">
            <a:avLst>
              <a:gd name="adj" fmla="val 8982"/>
            </a:avLst>
          </a:prstGeom>
          <a:solidFill>
            <a:srgbClr val="000000">
              <a:alpha val="29688"/>
            </a:srgbClr>
          </a:solidFill>
          <a:ln w="19050" cap="flat" cmpd="sng" algn="ctr">
            <a:gradFill flip="none" rotWithShape="1">
              <a:gsLst>
                <a:gs pos="0">
                  <a:srgbClr val="AB0071"/>
                </a:gs>
                <a:gs pos="100000">
                  <a:srgbClr val="952EFF"/>
                </a:gs>
                <a:gs pos="55000">
                  <a:srgbClr val="E433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lIns="182880" tIns="91440" rIns="18288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45697D3A-6CEF-9493-FE77-201A7DA0670D}"/>
              </a:ext>
            </a:extLst>
          </p:cNvPr>
          <p:cNvSpPr/>
          <p:nvPr userDrawn="1"/>
        </p:nvSpPr>
        <p:spPr>
          <a:xfrm>
            <a:off x="4700565" y="3728912"/>
            <a:ext cx="2829066" cy="2300784"/>
          </a:xfrm>
          <a:prstGeom prst="roundRect">
            <a:avLst>
              <a:gd name="adj" fmla="val 8982"/>
            </a:avLst>
          </a:prstGeom>
          <a:solidFill>
            <a:srgbClr val="000000">
              <a:alpha val="29688"/>
            </a:srgbClr>
          </a:solidFill>
          <a:ln w="19050" cap="flat" cmpd="sng" algn="ctr">
            <a:gradFill flip="none" rotWithShape="1">
              <a:gsLst>
                <a:gs pos="0">
                  <a:srgbClr val="AB0071"/>
                </a:gs>
                <a:gs pos="100000">
                  <a:srgbClr val="952EFF"/>
                </a:gs>
                <a:gs pos="55000">
                  <a:srgbClr val="E433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lIns="182880" tIns="91440" rIns="18288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9" name="Rounded Rectangle 29">
            <a:extLst>
              <a:ext uri="{FF2B5EF4-FFF2-40B4-BE49-F238E27FC236}">
                <a16:creationId xmlns:a16="http://schemas.microsoft.com/office/drawing/2014/main" id="{3E86F720-3B53-4EB3-1C31-241DE68E3265}"/>
              </a:ext>
            </a:extLst>
          </p:cNvPr>
          <p:cNvSpPr/>
          <p:nvPr userDrawn="1"/>
        </p:nvSpPr>
        <p:spPr>
          <a:xfrm>
            <a:off x="7835651" y="1128216"/>
            <a:ext cx="2829066" cy="2300784"/>
          </a:xfrm>
          <a:prstGeom prst="roundRect">
            <a:avLst>
              <a:gd name="adj" fmla="val 8982"/>
            </a:avLst>
          </a:prstGeom>
          <a:solidFill>
            <a:srgbClr val="000000">
              <a:alpha val="29688"/>
            </a:srgbClr>
          </a:solidFill>
          <a:ln w="19050" cap="flat" cmpd="sng" algn="ctr">
            <a:gradFill flip="none" rotWithShape="1">
              <a:gsLst>
                <a:gs pos="0">
                  <a:srgbClr val="AB0071"/>
                </a:gs>
                <a:gs pos="100000">
                  <a:srgbClr val="952EFF"/>
                </a:gs>
                <a:gs pos="55000">
                  <a:srgbClr val="E433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lIns="182880" tIns="91440" rIns="18288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11" name="Rounded Rectangle 32">
            <a:extLst>
              <a:ext uri="{FF2B5EF4-FFF2-40B4-BE49-F238E27FC236}">
                <a16:creationId xmlns:a16="http://schemas.microsoft.com/office/drawing/2014/main" id="{9831651A-47EB-5438-DB75-6D9F9367FD54}"/>
              </a:ext>
            </a:extLst>
          </p:cNvPr>
          <p:cNvSpPr/>
          <p:nvPr userDrawn="1"/>
        </p:nvSpPr>
        <p:spPr>
          <a:xfrm>
            <a:off x="7835651" y="3728912"/>
            <a:ext cx="2829066" cy="2300784"/>
          </a:xfrm>
          <a:prstGeom prst="roundRect">
            <a:avLst>
              <a:gd name="adj" fmla="val 8982"/>
            </a:avLst>
          </a:prstGeom>
          <a:solidFill>
            <a:srgbClr val="000000">
              <a:alpha val="29688"/>
            </a:srgbClr>
          </a:solidFill>
          <a:ln w="19050" cap="flat" cmpd="sng" algn="ctr">
            <a:gradFill flip="none" rotWithShape="1">
              <a:gsLst>
                <a:gs pos="0">
                  <a:srgbClr val="AB0071"/>
                </a:gs>
                <a:gs pos="100000">
                  <a:srgbClr val="952EFF"/>
                </a:gs>
                <a:gs pos="55000">
                  <a:srgbClr val="E433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lIns="182880" tIns="91440" rIns="182880" bIns="9144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6022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2F6BE3F-8791-85EB-7BB0-25761B31F4C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3656" y="2648239"/>
            <a:ext cx="10664687" cy="3384550"/>
          </a:xfrm>
          <a:prstGeom prst="roundRect">
            <a:avLst>
              <a:gd name="adj" fmla="val 8562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0367B-F2DC-5732-2E15-51B06CBA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56" y="1532637"/>
            <a:ext cx="10607729" cy="5309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519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de imag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2F6BE3F-8791-85EB-7BB0-25761B31F4C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3656" y="2606675"/>
            <a:ext cx="10664687" cy="3384550"/>
          </a:xfrm>
          <a:prstGeom prst="roundRect">
            <a:avLst>
              <a:gd name="adj" fmla="val 11870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761B93CA-04D6-E74F-91FD-A35FAB4C3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561" y="749209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EYEBROW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43B64-26E4-91A6-696C-B89B026DC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561" y="1112223"/>
            <a:ext cx="10607729" cy="5309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code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40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de tex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761B93CA-04D6-E74F-91FD-A35FAB4C3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561" y="749209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EYEBROW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43B64-26E4-91A6-696C-B89B026DC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561" y="1112223"/>
            <a:ext cx="10607729" cy="5309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and code text</a:t>
            </a:r>
            <a:endParaRPr lang="en-US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5EE23111-5AE0-2708-F3C8-79E0410C6C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3656" y="2614503"/>
            <a:ext cx="10664687" cy="3384550"/>
          </a:xfrm>
          <a:prstGeom prst="roundRect">
            <a:avLst>
              <a:gd name="adj" fmla="val 11705"/>
            </a:avLst>
          </a:prstGeom>
          <a:ln w="19050">
            <a:solidFill>
              <a:schemeClr val="bg2"/>
            </a:solidFill>
          </a:ln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Code text</a:t>
            </a:r>
          </a:p>
        </p:txBody>
      </p:sp>
    </p:spTree>
    <p:extLst>
      <p:ext uri="{BB962C8B-B14F-4D97-AF65-F5344CB8AC3E}">
        <p14:creationId xmlns:p14="http://schemas.microsoft.com/office/powerpoint/2010/main" val="343681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39700BE-EA56-FC03-3257-55D7462BD8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5022" y="694380"/>
            <a:ext cx="5346883" cy="5491468"/>
          </a:xfrm>
          <a:prstGeom prst="roundRect">
            <a:avLst>
              <a:gd name="adj" fmla="val 467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7453FC75-76C0-FFCA-4ECA-C4E90A98C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61" y="3258032"/>
            <a:ext cx="3903878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  <a:p>
            <a:pPr lv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C62D6-9A76-B11D-63D8-2BAA50FC9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60" y="1520848"/>
            <a:ext cx="3903878" cy="1411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Title, content and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71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_02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39700BE-EA56-FC03-3257-55D7462BD8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2143" y="721360"/>
            <a:ext cx="4874098" cy="5464488"/>
          </a:xfrm>
          <a:prstGeom prst="roundRect">
            <a:avLst>
              <a:gd name="adj" fmla="val 467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7453FC75-76C0-FFCA-4ECA-C4E90A98C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5022" y="3258032"/>
            <a:ext cx="3903878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  <a:p>
            <a:pPr lv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C2B30-8192-7AAF-341C-09B96ED4D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5022" y="1520848"/>
            <a:ext cx="3903878" cy="1411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Title, content and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80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two columns, and image_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39700BE-EA56-FC03-3257-55D7462BD8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2143" y="721360"/>
            <a:ext cx="4874098" cy="5464488"/>
          </a:xfrm>
          <a:prstGeom prst="roundRect">
            <a:avLst>
              <a:gd name="adj" fmla="val 467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7453FC75-76C0-FFCA-4ECA-C4E90A98C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5022" y="2458544"/>
            <a:ext cx="5422738" cy="66599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</a:p>
          <a:p>
            <a:pPr lvl="0"/>
            <a:endParaRPr lang="en-US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2149FBC2-7683-A9B2-46C5-5B57FB1918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5021" y="3733467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7EDA63C-3159-CA34-D4B9-9A79B9E9B3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65023" y="4422445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39D65247-30E9-1D1B-9BBF-08C0134797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00107" y="3733467"/>
            <a:ext cx="2440231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16989F6-4ED5-C533-8D96-71926EBC6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00109" y="4422445"/>
            <a:ext cx="2440229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5E5804-38E0-D2B4-2E6E-40721B9E9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65021" y="742540"/>
            <a:ext cx="3903878" cy="1411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Title, content and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304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code imag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39700BE-EA56-FC03-3257-55D7462BD8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1304" y="694380"/>
            <a:ext cx="5346883" cy="5491468"/>
          </a:xfrm>
          <a:prstGeom prst="roundRect">
            <a:avLst>
              <a:gd name="adj" fmla="val 4675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2D34918-D686-3120-DEC4-3DC57586D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48" y="1726451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EYEBROW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327B1D7-50B2-3252-1FA4-35AECAFF00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619" y="3876483"/>
            <a:ext cx="3591182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7EEEC36-0B78-BA39-92BB-5E2C49CF4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60" y="2213264"/>
            <a:ext cx="3591182" cy="1411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code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879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code tex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C2D34918-D686-3120-DEC4-3DC57586D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48" y="1726451"/>
            <a:ext cx="3578552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EYEBROW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327B1D7-50B2-3252-1FA4-35AECAFF00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619" y="3876483"/>
            <a:ext cx="3591182" cy="172822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7EEEC36-0B78-BA39-92BB-5E2C49CF4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60" y="2213264"/>
            <a:ext cx="3591182" cy="14115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and code text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02483F-496C-4B42-9A85-CCDDC872515A}"/>
              </a:ext>
            </a:extLst>
          </p:cNvPr>
          <p:cNvSpPr txBox="1"/>
          <p:nvPr userDrawn="1"/>
        </p:nvSpPr>
        <p:spPr>
          <a:xfrm>
            <a:off x="5860745" y="672152"/>
            <a:ext cx="5346883" cy="5513696"/>
          </a:xfrm>
          <a:prstGeom prst="roundRect">
            <a:avLst>
              <a:gd name="adj" fmla="val 5673"/>
            </a:avLst>
          </a:prstGeom>
          <a:ln w="19050">
            <a:solidFill>
              <a:schemeClr val="bg2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Code text</a:t>
            </a:r>
          </a:p>
        </p:txBody>
      </p:sp>
    </p:spTree>
    <p:extLst>
      <p:ext uri="{BB962C8B-B14F-4D97-AF65-F5344CB8AC3E}">
        <p14:creationId xmlns:p14="http://schemas.microsoft.com/office/powerpoint/2010/main" val="4058841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39700BE-EA56-FC03-3257-55D7462BD8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28015" y="0"/>
            <a:ext cx="12320016" cy="6858000"/>
          </a:xfrm>
          <a:prstGeom prst="roundRect">
            <a:avLst>
              <a:gd name="adj" fmla="val 0"/>
            </a:avLst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6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FD8A6-BD95-FFAA-2064-9DC67488D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566" y="650191"/>
            <a:ext cx="10607729" cy="5309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only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781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9CF5A3-1D2A-F282-6F80-1A6CB0F7E3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158" y="537277"/>
            <a:ext cx="835752" cy="499786"/>
          </a:xfrm>
          <a:prstGeom prst="rect">
            <a:avLst/>
          </a:prstGeom>
        </p:spPr>
      </p:pic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393" y="5151427"/>
            <a:ext cx="3336188" cy="744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</a:t>
            </a:r>
          </a:p>
          <a:p>
            <a:pPr lvl="0"/>
            <a:r>
              <a:rPr lang="en-US" dirty="0"/>
              <a:t>Source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4CC71-9D84-7178-429D-8AB7925B2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93" y="1689275"/>
            <a:ext cx="10298221" cy="3125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“Quote goes here.”</a:t>
            </a:r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9A5D65F-7456-9069-1EE5-2F575483C01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6262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Mo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437687-5DF0-1D81-925D-844EE787EE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394" y="5151427"/>
            <a:ext cx="3336188" cy="744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Author</a:t>
            </a:r>
          </a:p>
          <a:p>
            <a:pPr lvl="0"/>
            <a:r>
              <a:rPr lang="en-US"/>
              <a:t>Source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163343E-0538-E787-F23A-883442D48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93" y="1689275"/>
            <a:ext cx="10298221" cy="3125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“Quote goes here.”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5F765-65AE-D4F2-DC4F-AC1DEAC70891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98953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kill Bu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CBC6B-D110-CBDD-54ED-405A5EDDB6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68BA0C7-B18D-263C-C3CF-48AF849BFA7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22714A-D6D9-6D1D-6CC8-C5C662DCC0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6428661"/>
            <a:ext cx="388818" cy="2325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5E0592-D2D0-C32F-F43E-2374761E3AAE}"/>
              </a:ext>
            </a:extLst>
          </p:cNvPr>
          <p:cNvSpPr txBox="1"/>
          <p:nvPr userDrawn="1"/>
        </p:nvSpPr>
        <p:spPr>
          <a:xfrm>
            <a:off x="304800" y="826379"/>
            <a:ext cx="323121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u="none" strike="noStrike" dirty="0">
                <a:solidFill>
                  <a:schemeClr val="bg1"/>
                </a:solidFill>
                <a:effectLst/>
                <a:latin typeface="+mn-lt"/>
                <a:ea typeface="Amazon Ember Light" panose="020B0403020204020204" pitchFamily="34" charset="0"/>
                <a:cs typeface="Amazon Ember Light" panose="020B0403020204020204" pitchFamily="34" charset="0"/>
              </a:rPr>
              <a:t>skillbuilder.aws</a:t>
            </a:r>
            <a:endParaRPr lang="en-US" sz="3200" dirty="0">
              <a:solidFill>
                <a:schemeClr val="bg1"/>
              </a:solidFill>
              <a:latin typeface="+mn-lt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135B47-9754-D7AA-B00B-4F48B5D84DD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1130" y="311051"/>
            <a:ext cx="1389772" cy="138977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6123F1F-F820-758B-7FA0-0E7C83E9C693}"/>
              </a:ext>
            </a:extLst>
          </p:cNvPr>
          <p:cNvSpPr txBox="1">
            <a:spLocks/>
          </p:cNvSpPr>
          <p:nvPr userDrawn="1"/>
        </p:nvSpPr>
        <p:spPr>
          <a:xfrm>
            <a:off x="304800" y="3067050"/>
            <a:ext cx="5132173" cy="205359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0" i="0" dirty="0">
                <a:solidFill>
                  <a:schemeClr val="bg1"/>
                </a:solidFill>
                <a:effectLst/>
                <a:latin typeface="+mn-lt"/>
                <a:ea typeface="Amazon Ember Light" panose="020B0403020204020204" pitchFamily="34" charset="0"/>
                <a:cs typeface="Amazon Ember Light" panose="020B0403020204020204" pitchFamily="34" charset="0"/>
              </a:rPr>
              <a:t>Create a free account on AWS Skill Builder to gain in-demand skills </a:t>
            </a:r>
            <a:endParaRPr lang="en-US" sz="4000" b="1" dirty="0">
              <a:solidFill>
                <a:schemeClr val="bg1"/>
              </a:solidFill>
              <a:latin typeface="+mn-lt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706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4E6313-2A76-12C5-B29A-96754EDB0B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41C24-A61E-AF73-E70F-10ED3ADB7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93" y="3012570"/>
            <a:ext cx="10298221" cy="8328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B8FBF2B-1908-42DA-BD81-993FAEBDEC0A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7773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&amp;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7DFFD9-9768-7F4F-325A-55B91800B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4EB6E3B8-E9BA-E14B-C774-675B2E513D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764" y="2732404"/>
            <a:ext cx="5484691" cy="1393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6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5BCCF298-6D9D-5A97-1E1D-174718DACA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9310" y="3315305"/>
            <a:ext cx="2147455" cy="2205524"/>
          </a:xfrm>
          <a:prstGeom prst="roundRect">
            <a:avLst>
              <a:gd name="adj" fmla="val 10690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B5CF1-1E94-FD3E-C799-A79FB9849C42}"/>
              </a:ext>
            </a:extLst>
          </p:cNvPr>
          <p:cNvSpPr/>
          <p:nvPr userDrawn="1"/>
        </p:nvSpPr>
        <p:spPr>
          <a:xfrm>
            <a:off x="8501438" y="5669248"/>
            <a:ext cx="3692325" cy="832859"/>
          </a:xfrm>
          <a:prstGeom prst="rect">
            <a:avLst/>
          </a:prstGeom>
          <a:gradFill flip="none" rotWithShape="1">
            <a:gsLst>
              <a:gs pos="100000">
                <a:srgbClr val="002060">
                  <a:alpha val="56338"/>
                </a:srgbClr>
              </a:gs>
              <a:gs pos="17000">
                <a:srgbClr val="002060"/>
              </a:gs>
            </a:gsLst>
            <a:lin ang="14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0" rIns="182880" rtlCol="0" anchor="ctr"/>
          <a:lstStyle/>
          <a:p>
            <a:pPr lvl="0">
              <a:lnSpc>
                <a:spcPct val="80000"/>
              </a:lnSpc>
            </a:pPr>
            <a:endParaRPr lang="en-US" sz="1600">
              <a:solidFill>
                <a:schemeClr val="bg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C1D28-90EA-4707-CF36-0DF2BDB85256}"/>
              </a:ext>
            </a:extLst>
          </p:cNvPr>
          <p:cNvSpPr txBox="1"/>
          <p:nvPr userDrawn="1"/>
        </p:nvSpPr>
        <p:spPr>
          <a:xfrm>
            <a:off x="8667938" y="5701878"/>
            <a:ext cx="3692325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l">
              <a:lnSpc>
                <a:spcPct val="90000"/>
              </a:lnSpc>
              <a:spcAft>
                <a:spcPts val="1800"/>
              </a:spcAft>
            </a:pPr>
            <a:r>
              <a:rPr lang="en-US" sz="1800" b="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Please complete the session survey in the </a:t>
            </a:r>
            <a:r>
              <a:rPr lang="en-US" sz="1800" b="0" u="none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mobile app</a:t>
            </a:r>
          </a:p>
        </p:txBody>
      </p:sp>
    </p:spTree>
    <p:extLst>
      <p:ext uri="{BB962C8B-B14F-4D97-AF65-F5344CB8AC3E}">
        <p14:creationId xmlns:p14="http://schemas.microsoft.com/office/powerpoint/2010/main" val="1310765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hank you &amp;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2D97C3-632A-0527-B1AF-04A186893B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4EB6E3B8-E9BA-E14B-C774-675B2E513D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764" y="2732404"/>
            <a:ext cx="5484691" cy="1393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6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5BCCF298-6D9D-5A97-1E1D-174718DACA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9310" y="3315305"/>
            <a:ext cx="2147455" cy="2205524"/>
          </a:xfrm>
          <a:prstGeom prst="roundRect">
            <a:avLst>
              <a:gd name="adj" fmla="val 10690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B5CF1-1E94-FD3E-C799-A79FB9849C42}"/>
              </a:ext>
            </a:extLst>
          </p:cNvPr>
          <p:cNvSpPr/>
          <p:nvPr userDrawn="1"/>
        </p:nvSpPr>
        <p:spPr>
          <a:xfrm>
            <a:off x="8501438" y="5669248"/>
            <a:ext cx="3692325" cy="832859"/>
          </a:xfrm>
          <a:prstGeom prst="rect">
            <a:avLst/>
          </a:prstGeom>
          <a:gradFill flip="none" rotWithShape="1">
            <a:gsLst>
              <a:gs pos="100000">
                <a:srgbClr val="002060">
                  <a:alpha val="56338"/>
                </a:srgbClr>
              </a:gs>
              <a:gs pos="17000">
                <a:srgbClr val="002060"/>
              </a:gs>
            </a:gsLst>
            <a:lin ang="14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0" rIns="182880" rtlCol="0" anchor="ctr"/>
          <a:lstStyle/>
          <a:p>
            <a:pPr lvl="0">
              <a:lnSpc>
                <a:spcPct val="80000"/>
              </a:lnSpc>
            </a:pPr>
            <a:endParaRPr lang="en-US" sz="1600">
              <a:solidFill>
                <a:schemeClr val="bg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C1D28-90EA-4707-CF36-0DF2BDB85256}"/>
              </a:ext>
            </a:extLst>
          </p:cNvPr>
          <p:cNvSpPr txBox="1"/>
          <p:nvPr userDrawn="1"/>
        </p:nvSpPr>
        <p:spPr>
          <a:xfrm>
            <a:off x="8667938" y="5701878"/>
            <a:ext cx="3692325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l">
              <a:lnSpc>
                <a:spcPct val="90000"/>
              </a:lnSpc>
              <a:spcAft>
                <a:spcPts val="1800"/>
              </a:spcAft>
            </a:pPr>
            <a:r>
              <a:rPr lang="en-US" sz="1800" b="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Please complete the session survey in the </a:t>
            </a:r>
            <a:r>
              <a:rPr lang="en-US" sz="1800" b="0" u="none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mobile app</a:t>
            </a:r>
          </a:p>
        </p:txBody>
      </p:sp>
    </p:spTree>
    <p:extLst>
      <p:ext uri="{BB962C8B-B14F-4D97-AF65-F5344CB8AC3E}">
        <p14:creationId xmlns:p14="http://schemas.microsoft.com/office/powerpoint/2010/main" val="618105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gradient&#10;&#10;AI-generated content may be incorrect.">
            <a:extLst>
              <a:ext uri="{FF2B5EF4-FFF2-40B4-BE49-F238E27FC236}">
                <a16:creationId xmlns:a16="http://schemas.microsoft.com/office/drawing/2014/main" id="{EDBFAC01-0FA7-B8F7-7462-2916A3EEE9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B7CD8-17BD-E975-046F-FED0BB7721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219214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068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024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unch_Annou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28BB32-A7DF-52F2-5C6E-83AD5F82C7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4CF2D6-EFFD-6DA3-C843-7427B1E921C3}"/>
              </a:ext>
            </a:extLst>
          </p:cNvPr>
          <p:cNvSpPr/>
          <p:nvPr userDrawn="1"/>
        </p:nvSpPr>
        <p:spPr>
          <a:xfrm>
            <a:off x="5524981" y="1204163"/>
            <a:ext cx="1142038" cy="485741"/>
          </a:xfrm>
          <a:prstGeom prst="roundRect">
            <a:avLst>
              <a:gd name="adj" fmla="val 50000"/>
            </a:avLst>
          </a:prstGeom>
          <a:noFill/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36576" tIns="27432" rIns="0" bIns="0" rtlCol="0" anchor="ctr"/>
          <a:lstStyle/>
          <a:p>
            <a:pPr marL="0" marR="0" lvl="0" indent="0" algn="ctr" defTabSz="9144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30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NEW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8AE4A6F-164F-ECAA-60A7-65C58209E1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8138" y="2312103"/>
            <a:ext cx="9017000" cy="638175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Name of Service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B93BBB1-AC70-C13B-5C37-B282268DCB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2501" y="6428661"/>
            <a:ext cx="388818" cy="219592"/>
          </a:xfrm>
          <a:prstGeom prst="rect">
            <a:avLst/>
          </a:prstGeom>
        </p:spPr>
      </p:pic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C580363-2926-214C-F568-3A37CE16DC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8138" y="4317940"/>
            <a:ext cx="9040812" cy="3416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 spc="300">
                <a:solidFill>
                  <a:schemeClr val="bg1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/>
              <a:t>AVAILABILITY LINE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5CD5E87-B24B-426A-A1A9-3DCB564D6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8138" y="3195195"/>
            <a:ext cx="9040812" cy="7571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 spc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Add a concise description of the service here, try to keep it concise and no more than two lines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F0D4D82-2C68-828B-F156-9D5818CA424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931507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46724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unch_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F6FBA-632D-DA77-46D3-CB121AA959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E68BA0C7-B18D-263C-C3CF-48AF849BFA7F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726A2-3E53-4BDA-9C63-71CEFD8336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92501" y="6428661"/>
            <a:ext cx="388818" cy="2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21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FE51BA5B-866C-945C-85B8-147657047DC3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151D14-1318-7DB5-C744-1B2D0711C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1500" y="6431119"/>
            <a:ext cx="388818" cy="2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17326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427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ssion Titl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9E3731-32D7-5941-5B9C-330235042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306F47-F75A-E094-F378-8596F5875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3716-61A2-F3CA-F24E-DE267987A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736F04DF-3AC5-EBD3-58F9-4C43D87A19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B4E42576-352C-2BD6-1207-1E421B7326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769752D-808F-28AE-B5B1-75AC72BBF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3C547C9-6474-5F18-CEB2-C4159E7FB119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1849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C2614ABB-5806-776E-27EA-3AA282A6B5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4447" y="1422541"/>
            <a:ext cx="6178623" cy="4376307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Agenda item 1</a:t>
            </a:r>
          </a:p>
          <a:p>
            <a:pPr lvl="0"/>
            <a:r>
              <a:rPr lang="en-US" dirty="0"/>
              <a:t>Agenda item 2</a:t>
            </a:r>
          </a:p>
          <a:p>
            <a:pPr lvl="0"/>
            <a:r>
              <a:rPr lang="en-US" dirty="0"/>
              <a:t>Agenda item 3</a:t>
            </a:r>
          </a:p>
          <a:p>
            <a:pPr lvl="0"/>
            <a:r>
              <a:rPr lang="en-US" dirty="0"/>
              <a:t>Agenda item 4</a:t>
            </a:r>
          </a:p>
          <a:p>
            <a:pPr lvl="0"/>
            <a:r>
              <a:rPr lang="en-US" dirty="0"/>
              <a:t>Agenda item 5</a:t>
            </a:r>
          </a:p>
          <a:p>
            <a:pPr lvl="0"/>
            <a:r>
              <a:rPr lang="en-US" dirty="0"/>
              <a:t>Agenda item 6</a:t>
            </a:r>
          </a:p>
          <a:p>
            <a:pPr lvl="0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9CD6638-D819-A534-1F0B-DCE42AE1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422541"/>
            <a:ext cx="2807684" cy="13545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Agenda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68EC56-3574-289C-69AD-B11250A1CB65}"/>
              </a:ext>
            </a:extLst>
          </p:cNvPr>
          <p:cNvCxnSpPr>
            <a:cxnSpLocks/>
          </p:cNvCxnSpPr>
          <p:nvPr userDrawn="1"/>
        </p:nvCxnSpPr>
        <p:spPr>
          <a:xfrm>
            <a:off x="3443706" y="1349224"/>
            <a:ext cx="0" cy="4546609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1271959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, and Bulleted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F9C0FDF2-B677-C833-09BE-BC11C062CB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225" y="1842447"/>
            <a:ext cx="10532792" cy="4258101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Enter bulleted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431A9-02A8-1CEF-BDF5-B421C3CFA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225" y="378881"/>
            <a:ext cx="10532792" cy="6025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Title, subtitle, and bulleted content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FEF61C1D-9F0D-1627-6470-0253436BB0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25" y="1148344"/>
            <a:ext cx="10532792" cy="3665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68292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3 row content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0635684-1542-DAB7-1D30-9EBD6E21C7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2056" y="1106577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634A4CAF-90EC-E954-3BFB-6E43FD445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2056" y="1700906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37F65AD8-E4FD-4984-5FBA-EC5F6A685D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2056" y="2890611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DCE340B5-AF30-C9FD-EA84-87B943FC7B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2056" y="3484940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344ABFA-783F-F7DE-C825-0026F5EB31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2056" y="4653183"/>
            <a:ext cx="6396066" cy="4247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D4EB6E-2D83-811D-C211-5CA9EC0D08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2056" y="5247512"/>
            <a:ext cx="6396066" cy="6861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Lorem ipsum dolor sit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amet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consectetur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adipiscing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elit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.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Fusce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posuere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magna sed pulvinar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ultricies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t>purus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  <a:p>
            <a:pPr lvl="0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185E1-613C-FCB0-89FC-C3529FC25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106577"/>
            <a:ext cx="3591179" cy="16407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306D2-2A2C-2752-8628-E478821D9BEE}"/>
              </a:ext>
            </a:extLst>
          </p:cNvPr>
          <p:cNvCxnSpPr>
            <a:cxnSpLocks/>
          </p:cNvCxnSpPr>
          <p:nvPr userDrawn="1"/>
        </p:nvCxnSpPr>
        <p:spPr>
          <a:xfrm>
            <a:off x="4185978" y="1212574"/>
            <a:ext cx="0" cy="4721087"/>
          </a:xfrm>
          <a:prstGeom prst="line">
            <a:avLst/>
          </a:prstGeom>
          <a:noFill/>
          <a:ln w="25400" cap="flat" cmpd="sng" algn="ctr">
            <a:gradFill>
              <a:gsLst>
                <a:gs pos="0">
                  <a:srgbClr val="43004C"/>
                </a:gs>
                <a:gs pos="21000">
                  <a:srgbClr val="AB0071"/>
                </a:gs>
                <a:gs pos="100000">
                  <a:srgbClr val="00D6C7"/>
                </a:gs>
                <a:gs pos="85000">
                  <a:srgbClr val="007DFF"/>
                </a:gs>
                <a:gs pos="64000">
                  <a:srgbClr val="952EFF"/>
                </a:gs>
                <a:gs pos="40000">
                  <a:srgbClr val="E433FF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239008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3 column"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FDA123FF-B7BF-8287-C298-B0F58E4C53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6109" y="2788213"/>
            <a:ext cx="2863866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1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F054AD4-E8B8-C6E8-AF64-EA0068273D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2966" y="2788213"/>
            <a:ext cx="2863865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2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D1E8BD7-FDA5-BFE8-0AAA-D8B5085A1D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110" y="3624191"/>
            <a:ext cx="2863866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Pellent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32866AF3-B857-7756-F3EC-1194EDCF87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32968" y="3624191"/>
            <a:ext cx="2863866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011CB6F-3F94-DC6A-29BB-1B7A0F3B8C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51656" y="2788213"/>
            <a:ext cx="2863865" cy="41116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42DB03B-CCC9-C3A9-0E68-734ED9FAE2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51657" y="3624191"/>
            <a:ext cx="2863863" cy="11096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100"/>
              </a:lnSpc>
              <a:buNone/>
              <a:defRPr sz="160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1600">
                <a:solidFill>
                  <a:schemeClr val="bg1"/>
                </a:solidFill>
              </a:defRPr>
            </a:lvl2pPr>
            <a:lvl3pPr marL="914400" indent="0" algn="ctr">
              <a:buNone/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Pellent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722561-B1E0-285A-4037-20636C5916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1550104"/>
            <a:ext cx="10017785" cy="7177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 and 3 column 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245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hank you &amp;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7DFFD9-9768-7F4F-325A-55B91800B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4EB6E3B8-E9BA-E14B-C774-675B2E513D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764" y="2732404"/>
            <a:ext cx="5484691" cy="1393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6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5BCCF298-6D9D-5A97-1E1D-174718DACA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9310" y="3315305"/>
            <a:ext cx="2147455" cy="2205524"/>
          </a:xfrm>
          <a:prstGeom prst="roundRect">
            <a:avLst>
              <a:gd name="adj" fmla="val 10690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B5CF1-1E94-FD3E-C799-A79FB9849C42}"/>
              </a:ext>
            </a:extLst>
          </p:cNvPr>
          <p:cNvSpPr/>
          <p:nvPr userDrawn="1"/>
        </p:nvSpPr>
        <p:spPr>
          <a:xfrm>
            <a:off x="8501438" y="5669248"/>
            <a:ext cx="3692325" cy="832859"/>
          </a:xfrm>
          <a:prstGeom prst="rect">
            <a:avLst/>
          </a:prstGeom>
          <a:gradFill flip="none" rotWithShape="1">
            <a:gsLst>
              <a:gs pos="100000">
                <a:srgbClr val="002060">
                  <a:alpha val="56338"/>
                </a:srgbClr>
              </a:gs>
              <a:gs pos="17000">
                <a:srgbClr val="002060"/>
              </a:gs>
            </a:gsLst>
            <a:lin ang="14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0" rIns="182880" rtlCol="0" anchor="ctr"/>
          <a:lstStyle/>
          <a:p>
            <a:pPr lvl="0">
              <a:lnSpc>
                <a:spcPct val="80000"/>
              </a:lnSpc>
            </a:pPr>
            <a:endParaRPr lang="en-US" sz="1600">
              <a:solidFill>
                <a:schemeClr val="bg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C1D28-90EA-4707-CF36-0DF2BDB85256}"/>
              </a:ext>
            </a:extLst>
          </p:cNvPr>
          <p:cNvSpPr txBox="1"/>
          <p:nvPr userDrawn="1"/>
        </p:nvSpPr>
        <p:spPr>
          <a:xfrm>
            <a:off x="8667938" y="5701878"/>
            <a:ext cx="3692325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l">
              <a:lnSpc>
                <a:spcPct val="90000"/>
              </a:lnSpc>
              <a:spcAft>
                <a:spcPts val="1800"/>
              </a:spcAft>
            </a:pPr>
            <a:r>
              <a:rPr lang="en-US" sz="1800" b="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Please complete the session survey in the </a:t>
            </a:r>
            <a:r>
              <a:rPr lang="en-US" sz="1800" b="0" u="none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mobile app</a:t>
            </a:r>
          </a:p>
        </p:txBody>
      </p:sp>
    </p:spTree>
    <p:extLst>
      <p:ext uri="{BB962C8B-B14F-4D97-AF65-F5344CB8AC3E}">
        <p14:creationId xmlns:p14="http://schemas.microsoft.com/office/powerpoint/2010/main" val="351933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6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>
            <a:extLst>
              <a:ext uri="{FF2B5EF4-FFF2-40B4-BE49-F238E27FC236}">
                <a16:creationId xmlns:a16="http://schemas.microsoft.com/office/drawing/2014/main" id="{69B3CAFF-1CA6-3CBA-40FB-DEEA93D61B0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1368239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2025, Amazon Web Services, Inc. or its affiliates. All rights reserved.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9BDFD8A-A780-0055-AC09-1644B17404DB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71500" y="6428661"/>
            <a:ext cx="388818" cy="23251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65DF7-30E0-78F2-607D-6878FF52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3D553-8001-C131-E486-57ADBB1B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3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  <p:sldLayoutId id="2147483710" r:id="rId42"/>
    <p:sldLayoutId id="2147483711" r:id="rId43"/>
    <p:sldLayoutId id="2147483712" r:id="rId44"/>
    <p:sldLayoutId id="2147483713" r:id="rId45"/>
    <p:sldLayoutId id="2147483660" r:id="rId46"/>
    <p:sldLayoutId id="2147483662" r:id="rId47"/>
    <p:sldLayoutId id="2147483664" r:id="rId48"/>
    <p:sldLayoutId id="2147483665" r:id="rId49"/>
    <p:sldLayoutId id="2147483715" r:id="rId50"/>
    <p:sldLayoutId id="2147483716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60">
          <p15:clr>
            <a:srgbClr val="F26B43"/>
          </p15:clr>
        </p15:guide>
        <p15:guide id="4" pos="732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28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svg"/><Relationship Id="rId11" Type="http://schemas.openxmlformats.org/officeDocument/2006/relationships/image" Target="../media/image38.png"/><Relationship Id="rId5" Type="http://schemas.openxmlformats.org/officeDocument/2006/relationships/image" Target="../media/image34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4E1794-7C0B-DCAA-ED26-31949D673D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1539" y="2085707"/>
            <a:ext cx="4354461" cy="2351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AWS Community Day Switzerland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A2BC9-48D2-489E-D9CA-04B377F446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Matia Rašetina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8B1B0-6844-1C6C-2278-7B636783D2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AB979-120E-6667-7028-06C5F33CB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630CEA-A50D-C64A-A6CB-A8BFC916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Death by a Thousand Shadows: Caching and Cost-Cutting on AWS IoT Core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961FB-349B-2A8A-5021-A1140F114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He/him</a:t>
            </a:r>
          </a:p>
          <a:p>
            <a:r>
              <a:rPr lang="en-US" dirty="0"/>
              <a:t>Senior Software Engineer</a:t>
            </a:r>
          </a:p>
          <a:p>
            <a:r>
              <a:rPr lang="en-US" dirty="0" err="1"/>
              <a:t>Elixirr</a:t>
            </a:r>
            <a:r>
              <a:rPr lang="en-US" dirty="0"/>
              <a:t> Digital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51D6EF-6958-2B89-50DA-71720A44CF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863D04-FAE9-B44D-7ED8-583AA18654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4E18DF-4B6C-30CE-999E-0E358CE756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AWS IoT Core:</a:t>
            </a:r>
            <a:r>
              <a:rPr lang="en-US" dirty="0"/>
              <a:t> Devices, messages, rules and shadows</a:t>
            </a:r>
          </a:p>
          <a:p>
            <a:r>
              <a:rPr lang="en-US" b="1" dirty="0">
                <a:solidFill>
                  <a:schemeClr val="bg1"/>
                </a:solidFill>
              </a:rPr>
              <a:t>Story time: </a:t>
            </a:r>
            <a:r>
              <a:rPr lang="en-US" dirty="0">
                <a:solidFill>
                  <a:schemeClr val="bg1"/>
                </a:solidFill>
              </a:rPr>
              <a:t>the POC that worked too hard</a:t>
            </a:r>
            <a:endParaRPr lang="en-US" b="1" dirty="0"/>
          </a:p>
          <a:p>
            <a:r>
              <a:rPr lang="en-US" b="1" dirty="0"/>
              <a:t>Pattern 1: </a:t>
            </a:r>
            <a:r>
              <a:rPr lang="en-US" dirty="0"/>
              <a:t>Layered shadow reads</a:t>
            </a:r>
          </a:p>
          <a:p>
            <a:r>
              <a:rPr lang="en-US" b="1" dirty="0"/>
              <a:t>Pattern 2: </a:t>
            </a:r>
            <a:r>
              <a:rPr lang="en-US" dirty="0"/>
              <a:t>Project smaller downstream events</a:t>
            </a:r>
          </a:p>
          <a:p>
            <a:r>
              <a:rPr lang="en-US" b="1" dirty="0"/>
              <a:t>Pattern 3:</a:t>
            </a:r>
            <a:r>
              <a:rPr lang="en-US" dirty="0"/>
              <a:t> Migrating to Named Shadows</a:t>
            </a:r>
            <a:endParaRPr lang="en-US" b="1" dirty="0"/>
          </a:p>
          <a:p>
            <a:r>
              <a:rPr lang="en-US" b="1" dirty="0"/>
              <a:t>Key Takeaways and Q&amp;A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527746-44CC-69D5-409E-7ED0FF5D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2334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E7987-D923-2D8B-9027-371FA126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085BEA-6D07-D240-05EF-877B1063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Areas of IoT</a:t>
            </a:r>
          </a:p>
        </p:txBody>
      </p:sp>
      <p:pic>
        <p:nvPicPr>
          <p:cNvPr id="9" name="Graphic 8" descr="Work from home Wi-Fi outline">
            <a:extLst>
              <a:ext uri="{FF2B5EF4-FFF2-40B4-BE49-F238E27FC236}">
                <a16:creationId xmlns:a16="http://schemas.microsoft.com/office/drawing/2014/main" id="{EC2FE325-3818-2E72-9CFC-FA2349014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225" y="2575810"/>
            <a:ext cx="1706380" cy="17063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508E1F-4A74-21D7-C524-FC3625A42360}"/>
              </a:ext>
            </a:extLst>
          </p:cNvPr>
          <p:cNvSpPr txBox="1"/>
          <p:nvPr/>
        </p:nvSpPr>
        <p:spPr>
          <a:xfrm>
            <a:off x="349370" y="4407108"/>
            <a:ext cx="2012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Smart Homes</a:t>
            </a:r>
          </a:p>
        </p:txBody>
      </p:sp>
      <p:pic>
        <p:nvPicPr>
          <p:cNvPr id="13" name="Graphic 12" descr="Production outline">
            <a:extLst>
              <a:ext uri="{FF2B5EF4-FFF2-40B4-BE49-F238E27FC236}">
                <a16:creationId xmlns:a16="http://schemas.microsoft.com/office/drawing/2014/main" id="{1A377464-EEF7-F8A8-D725-0B0A89B3B3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0139" y="2575810"/>
            <a:ext cx="1706380" cy="17063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EAEC17-A80A-8996-95FD-C62BC2E9BD07}"/>
              </a:ext>
            </a:extLst>
          </p:cNvPr>
          <p:cNvSpPr txBox="1"/>
          <p:nvPr/>
        </p:nvSpPr>
        <p:spPr>
          <a:xfrm>
            <a:off x="3674019" y="4407107"/>
            <a:ext cx="16321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Industrial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equipment</a:t>
            </a:r>
          </a:p>
        </p:txBody>
      </p:sp>
      <p:pic>
        <p:nvPicPr>
          <p:cNvPr id="16" name="Graphic 15" descr="Car with solid fill">
            <a:extLst>
              <a:ext uri="{FF2B5EF4-FFF2-40B4-BE49-F238E27FC236}">
                <a16:creationId xmlns:a16="http://schemas.microsoft.com/office/drawing/2014/main" id="{F8D6C84B-806D-B229-ED8E-63FA141FA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53" y="2697180"/>
            <a:ext cx="1709928" cy="17099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15999F-C323-CC7E-F24F-F689BBFCCEBA}"/>
              </a:ext>
            </a:extLst>
          </p:cNvPr>
          <p:cNvSpPr txBox="1"/>
          <p:nvPr/>
        </p:nvSpPr>
        <p:spPr>
          <a:xfrm>
            <a:off x="7021630" y="4407107"/>
            <a:ext cx="138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Vehicles</a:t>
            </a:r>
          </a:p>
        </p:txBody>
      </p:sp>
      <p:pic>
        <p:nvPicPr>
          <p:cNvPr id="19" name="Graphic 18" descr="Heart with pulse outline">
            <a:extLst>
              <a:ext uri="{FF2B5EF4-FFF2-40B4-BE49-F238E27FC236}">
                <a16:creationId xmlns:a16="http://schemas.microsoft.com/office/drawing/2014/main" id="{4301F03A-9049-CEC2-EEED-D3A6D8415E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5967" y="2697180"/>
            <a:ext cx="1709928" cy="17099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F161DE4-830D-B354-6396-9D7DB9B2EC29}"/>
              </a:ext>
            </a:extLst>
          </p:cNvPr>
          <p:cNvSpPr txBox="1"/>
          <p:nvPr/>
        </p:nvSpPr>
        <p:spPr>
          <a:xfrm>
            <a:off x="10035967" y="4407108"/>
            <a:ext cx="1709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Healthcare</a:t>
            </a:r>
          </a:p>
        </p:txBody>
      </p:sp>
    </p:spTree>
    <p:extLst>
      <p:ext uri="{BB962C8B-B14F-4D97-AF65-F5344CB8AC3E}">
        <p14:creationId xmlns:p14="http://schemas.microsoft.com/office/powerpoint/2010/main" val="169321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30DC24-60D0-CCFB-B5FB-06B7D1F2B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2225" y="1842447"/>
            <a:ext cx="5243819" cy="42581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Fully managed service to connect, manage, and secure billions of IoT devices, no infrastructure to setup</a:t>
            </a:r>
          </a:p>
          <a:p>
            <a:endParaRPr lang="en-US" sz="2000" dirty="0"/>
          </a:p>
          <a:p>
            <a:r>
              <a:rPr lang="en-US" sz="2000" dirty="0"/>
              <a:t>Lets devices and AWS services talk to each other through a simple, rules-based message routing system (no custom glue code)</a:t>
            </a:r>
          </a:p>
          <a:p>
            <a:endParaRPr lang="en-US" sz="2000" dirty="0"/>
          </a:p>
          <a:p>
            <a:r>
              <a:rPr lang="en-US" sz="2000" dirty="0"/>
              <a:t>Keeps a synced "shadow" of each device's last known state, so your app can read/write to it even when the device itself is offline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0BCF7A-4DD0-1B32-ED9D-A8DDB7FF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AWS IoT Core</a:t>
            </a:r>
          </a:p>
        </p:txBody>
      </p:sp>
      <p:pic>
        <p:nvPicPr>
          <p:cNvPr id="4" name="Graphic 6" descr="AWS IoT Core service icon.">
            <a:extLst>
              <a:ext uri="{FF2B5EF4-FFF2-40B4-BE49-F238E27FC236}">
                <a16:creationId xmlns:a16="http://schemas.microsoft.com/office/drawing/2014/main" id="{AE29B2C7-F109-E228-6543-D8A4F793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8911265" y="190703"/>
            <a:ext cx="1215770" cy="121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D266F8-E71B-2371-9A39-7C2023869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877" y="1906633"/>
            <a:ext cx="6002775" cy="41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3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E09E-3DED-5A6C-97A0-BFEB5384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92" y="384719"/>
            <a:ext cx="10607729" cy="530944"/>
          </a:xfrm>
        </p:spPr>
        <p:txBody>
          <a:bodyPr>
            <a:normAutofit fontScale="90000"/>
          </a:bodyPr>
          <a:lstStyle/>
          <a:p>
            <a:r>
              <a:rPr lang="en-US" dirty="0"/>
              <a:t>Device Shadow Anatomy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CCE1658-26F7-3D63-861D-699198745EBE}"/>
              </a:ext>
            </a:extLst>
          </p:cNvPr>
          <p:cNvSpPr txBox="1">
            <a:spLocks/>
          </p:cNvSpPr>
          <p:nvPr/>
        </p:nvSpPr>
        <p:spPr>
          <a:xfrm>
            <a:off x="297225" y="1129177"/>
            <a:ext cx="6396066" cy="424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Amazon Ember Display" panose="020F0603020204020204" pitchFamily="34" charset="0"/>
                <a:cs typeface="Amazon Ember Display" panose="020F06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Amazon Ember Display" panose="020F0603020204020204" pitchFamily="34" charset="0"/>
                <a:cs typeface="Amazon Ember Display" panose="020F06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Amazon Ember Display" panose="020F0603020204020204" pitchFamily="34" charset="0"/>
                <a:cs typeface="Amazon Ember Display" panose="020F06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Amazon Ember Display" panose="020F0603020204020204" pitchFamily="34" charset="0"/>
                <a:cs typeface="Amazon Ember Display" panose="020F06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Desired State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EC2D414-3C48-9481-C147-A107EF740A1E}"/>
              </a:ext>
            </a:extLst>
          </p:cNvPr>
          <p:cNvSpPr txBox="1">
            <a:spLocks/>
          </p:cNvSpPr>
          <p:nvPr/>
        </p:nvSpPr>
        <p:spPr>
          <a:xfrm>
            <a:off x="267968" y="2304555"/>
            <a:ext cx="6396066" cy="424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Reported State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4CDC82-2C56-D73B-7BD9-F9A237821CF7}"/>
              </a:ext>
            </a:extLst>
          </p:cNvPr>
          <p:cNvSpPr txBox="1">
            <a:spLocks/>
          </p:cNvSpPr>
          <p:nvPr/>
        </p:nvSpPr>
        <p:spPr>
          <a:xfrm>
            <a:off x="267968" y="2680384"/>
            <a:ext cx="5399540" cy="1011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the device says it currently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publishes its actual state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4E9BEBF-55A3-F72A-40E5-00430706F893}"/>
              </a:ext>
            </a:extLst>
          </p:cNvPr>
          <p:cNvSpPr txBox="1">
            <a:spLocks/>
          </p:cNvSpPr>
          <p:nvPr/>
        </p:nvSpPr>
        <p:spPr>
          <a:xfrm>
            <a:off x="260777" y="3377031"/>
            <a:ext cx="6396066" cy="424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Delta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CFD8ED-E52F-C61C-302B-AD8927D374F8}"/>
              </a:ext>
            </a:extLst>
          </p:cNvPr>
          <p:cNvSpPr txBox="1">
            <a:spLocks/>
          </p:cNvSpPr>
          <p:nvPr/>
        </p:nvSpPr>
        <p:spPr>
          <a:xfrm>
            <a:off x="260777" y="3752860"/>
            <a:ext cx="5399540" cy="1011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“What still needs to change”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IoT automatically calculates the difference between “</a:t>
            </a:r>
            <a:r>
              <a:rPr lang="en-US" i="1" dirty="0"/>
              <a:t>desired</a:t>
            </a:r>
            <a:r>
              <a:rPr lang="en-US" dirty="0"/>
              <a:t>” and “</a:t>
            </a:r>
            <a:r>
              <a:rPr lang="en-US" i="1" dirty="0"/>
              <a:t>reported</a:t>
            </a:r>
            <a:r>
              <a:rPr lang="en-US" dirty="0"/>
              <a:t>”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804F9A46-D1B6-9297-A025-A167D90BC058}"/>
              </a:ext>
            </a:extLst>
          </p:cNvPr>
          <p:cNvSpPr txBox="1">
            <a:spLocks/>
          </p:cNvSpPr>
          <p:nvPr/>
        </p:nvSpPr>
        <p:spPr>
          <a:xfrm>
            <a:off x="267968" y="4695576"/>
            <a:ext cx="6396066" cy="424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Version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42B9679-FA46-9E51-3719-D591433D0A8E}"/>
              </a:ext>
            </a:extLst>
          </p:cNvPr>
          <p:cNvSpPr txBox="1">
            <a:spLocks/>
          </p:cNvSpPr>
          <p:nvPr/>
        </p:nvSpPr>
        <p:spPr>
          <a:xfrm>
            <a:off x="267968" y="5071405"/>
            <a:ext cx="5399540" cy="1011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“Which revision of the Shadow this is“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Incremented whenever the Shadow document changes, useful for detecting stale updates</a:t>
            </a:r>
          </a:p>
        </p:txBody>
      </p:sp>
      <p:pic>
        <p:nvPicPr>
          <p:cNvPr id="18" name="Picture 1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45FA38-4B46-6659-9E3D-945F3900F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322" y="914400"/>
            <a:ext cx="3949700" cy="50292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835528-D2C2-A1D3-A5EA-1CF72F60D57D}"/>
              </a:ext>
            </a:extLst>
          </p:cNvPr>
          <p:cNvSpPr txBox="1"/>
          <p:nvPr/>
        </p:nvSpPr>
        <p:spPr>
          <a:xfrm>
            <a:off x="5314950" y="-354330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25000" lnSpcReduction="20000"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1A947C-2D91-D60A-58B4-33A838C2EAF0}"/>
              </a:ext>
            </a:extLst>
          </p:cNvPr>
          <p:cNvSpPr/>
          <p:nvPr/>
        </p:nvSpPr>
        <p:spPr>
          <a:xfrm>
            <a:off x="7828156" y="1553909"/>
            <a:ext cx="2988527" cy="963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C84F11-B5B9-DC42-E3ED-46FECC220F39}"/>
              </a:ext>
            </a:extLst>
          </p:cNvPr>
          <p:cNvSpPr/>
          <p:nvPr/>
        </p:nvSpPr>
        <p:spPr>
          <a:xfrm>
            <a:off x="7828156" y="2565096"/>
            <a:ext cx="2988527" cy="1275466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B9FA5A-9D62-569D-B41F-2157DEADD251}"/>
              </a:ext>
            </a:extLst>
          </p:cNvPr>
          <p:cNvSpPr/>
          <p:nvPr/>
        </p:nvSpPr>
        <p:spPr>
          <a:xfrm>
            <a:off x="7824439" y="3859573"/>
            <a:ext cx="2988527" cy="1072893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BA689-AAF1-6C7A-A23A-642AF37FCE03}"/>
              </a:ext>
            </a:extLst>
          </p:cNvPr>
          <p:cNvSpPr/>
          <p:nvPr/>
        </p:nvSpPr>
        <p:spPr>
          <a:xfrm>
            <a:off x="7654909" y="5183214"/>
            <a:ext cx="2202770" cy="530945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45A9AD4-18C4-5084-242C-0F0BCA5994DD}"/>
              </a:ext>
            </a:extLst>
          </p:cNvPr>
          <p:cNvSpPr txBox="1">
            <a:spLocks/>
          </p:cNvSpPr>
          <p:nvPr/>
        </p:nvSpPr>
        <p:spPr>
          <a:xfrm>
            <a:off x="297225" y="1559005"/>
            <a:ext cx="5399540" cy="1011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“What we want the device to be”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Cloud/app writes the target state</a:t>
            </a:r>
          </a:p>
        </p:txBody>
      </p:sp>
    </p:spTree>
    <p:extLst>
      <p:ext uri="{BB962C8B-B14F-4D97-AF65-F5344CB8AC3E}">
        <p14:creationId xmlns:p14="http://schemas.microsoft.com/office/powerpoint/2010/main" val="30884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D00E5-9830-BB56-CF8F-6E9726AE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3CB6C-9915-3F86-6995-B32DE114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AWS IoT Core Pricing</a:t>
            </a:r>
          </a:p>
        </p:txBody>
      </p:sp>
      <p:pic>
        <p:nvPicPr>
          <p:cNvPr id="4" name="Graphic 6" descr="AWS IoT Core service icon.">
            <a:extLst>
              <a:ext uri="{FF2B5EF4-FFF2-40B4-BE49-F238E27FC236}">
                <a16:creationId xmlns:a16="http://schemas.microsoft.com/office/drawing/2014/main" id="{13373F01-7A85-4B0D-D1D4-EAB531178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8911265" y="190703"/>
            <a:ext cx="1215770" cy="121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97889C-F9E8-13CD-F356-E6AF784969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997098"/>
              </p:ext>
            </p:extLst>
          </p:nvPr>
        </p:nvGraphicFramePr>
        <p:xfrm>
          <a:off x="2972506" y="1594651"/>
          <a:ext cx="6246988" cy="4258556"/>
        </p:xfrm>
        <a:graphic>
          <a:graphicData uri="http://schemas.openxmlformats.org/drawingml/2006/table">
            <a:tbl>
              <a:tblPr/>
              <a:tblGrid>
                <a:gridCol w="181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4639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What is billed</a:t>
                      </a:r>
                    </a:p>
                  </a:txBody>
                  <a:tcPr>
                    <a:solidFill>
                      <a:srgbClr val="2028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Unit</a:t>
                      </a:r>
                    </a:p>
                  </a:txBody>
                  <a:tcPr>
                    <a:solidFill>
                      <a:srgbClr val="2028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Example</a:t>
                      </a:r>
                    </a:p>
                  </a:txBody>
                  <a:tcPr>
                    <a:solidFill>
                      <a:srgbClr val="20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6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Device Shadow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900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1 KB of record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1.5 KB record = 2 operations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6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MQTT messaging</a:t>
                      </a:r>
                    </a:p>
                  </a:txBody>
                  <a:tcPr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900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5 KB of message</a:t>
                      </a:r>
                    </a:p>
                  </a:txBody>
                  <a:tcPr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16 KB republish = 4 messages</a:t>
                      </a:r>
                    </a:p>
                  </a:txBody>
                  <a:tcPr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6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Rules Engine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FF9900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5 KB of message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8 KB + one action = 2 rule units + 2 action units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87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5F25-1E58-5111-33CB-B48241B4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8469FF-6FEA-1712-4DDB-A98EB5AB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 time – the project we inherited</a:t>
            </a:r>
          </a:p>
        </p:txBody>
      </p:sp>
      <p:cxnSp>
        <p:nvCxnSpPr>
          <p:cNvPr id="7" name="Straight Arrow Connector 6" descr="Arrow pointing from Git users to Third party Git repository.">
            <a:extLst>
              <a:ext uri="{FF2B5EF4-FFF2-40B4-BE49-F238E27FC236}">
                <a16:creationId xmlns:a16="http://schemas.microsoft.com/office/drawing/2014/main" id="{E23FE903-6346-07F8-C0D6-C69451E094CC}"/>
              </a:ext>
            </a:extLst>
          </p:cNvPr>
          <p:cNvCxnSpPr>
            <a:cxnSpLocks/>
          </p:cNvCxnSpPr>
          <p:nvPr/>
        </p:nvCxnSpPr>
        <p:spPr>
          <a:xfrm>
            <a:off x="2877156" y="3780137"/>
            <a:ext cx="1366393" cy="0"/>
          </a:xfrm>
          <a:prstGeom prst="straightConnector1">
            <a:avLst/>
          </a:prstGeom>
          <a:ln w="15875">
            <a:solidFill>
              <a:srgbClr val="9BA7B6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abel">
            <a:extLst>
              <a:ext uri="{FF2B5EF4-FFF2-40B4-BE49-F238E27FC236}">
                <a16:creationId xmlns:a16="http://schemas.microsoft.com/office/drawing/2014/main" id="{FA7CF5C8-CB12-B21A-CD25-713BEA13B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671" y="4140513"/>
            <a:ext cx="1506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 Device</a:t>
            </a:r>
          </a:p>
        </p:txBody>
      </p:sp>
      <p:grpSp>
        <p:nvGrpSpPr>
          <p:cNvPr id="171" name="Group 170" descr="AWS Cloud group with AWS logo.">
            <a:extLst>
              <a:ext uri="{FF2B5EF4-FFF2-40B4-BE49-F238E27FC236}">
                <a16:creationId xmlns:a16="http://schemas.microsoft.com/office/drawing/2014/main" id="{F0C0D17E-FC37-0575-D032-3884DDB1FE55}"/>
              </a:ext>
            </a:extLst>
          </p:cNvPr>
          <p:cNvGrpSpPr/>
          <p:nvPr/>
        </p:nvGrpSpPr>
        <p:grpSpPr>
          <a:xfrm>
            <a:off x="3214293" y="1099963"/>
            <a:ext cx="5763413" cy="5248527"/>
            <a:chOff x="27881" y="1512744"/>
            <a:chExt cx="5947317" cy="5505585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08E7783-6287-F644-334F-F40CC3F8DC6C}"/>
                </a:ext>
              </a:extLst>
            </p:cNvPr>
            <p:cNvSpPr/>
            <p:nvPr/>
          </p:nvSpPr>
          <p:spPr>
            <a:xfrm>
              <a:off x="27881" y="1512744"/>
              <a:ext cx="5947317" cy="5505585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AWS Cloud</a:t>
              </a:r>
            </a:p>
          </p:txBody>
        </p:sp>
        <p:pic>
          <p:nvPicPr>
            <p:cNvPr id="173" name="Graphic 172">
              <a:extLst>
                <a:ext uri="{FF2B5EF4-FFF2-40B4-BE49-F238E27FC236}">
                  <a16:creationId xmlns:a16="http://schemas.microsoft.com/office/drawing/2014/main" id="{78BB4688-96B8-56F4-D669-A844C1662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7882" y="1514024"/>
              <a:ext cx="381000" cy="381000"/>
            </a:xfrm>
            <a:prstGeom prst="rect">
              <a:avLst/>
            </a:prstGeom>
          </p:spPr>
        </p:pic>
      </p:grpSp>
      <p:pic>
        <p:nvPicPr>
          <p:cNvPr id="6" name="Graphic 5" descr="IoT thing generic resource icon for the Internet of Things category.">
            <a:extLst>
              <a:ext uri="{FF2B5EF4-FFF2-40B4-BE49-F238E27FC236}">
                <a16:creationId xmlns:a16="http://schemas.microsoft.com/office/drawing/2014/main" id="{CE39290B-528A-DBD3-44D3-DCAF7FBE15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3340" y="3551537"/>
            <a:ext cx="457200" cy="457200"/>
          </a:xfrm>
          <a:prstGeom prst="rect">
            <a:avLst/>
          </a:prstGeom>
        </p:spPr>
      </p:pic>
      <p:pic>
        <p:nvPicPr>
          <p:cNvPr id="9" name="Graphic 6" descr="AWS IoT Core service icon.">
            <a:extLst>
              <a:ext uri="{FF2B5EF4-FFF2-40B4-BE49-F238E27FC236}">
                <a16:creationId xmlns:a16="http://schemas.microsoft.com/office/drawing/2014/main" id="{0A9885FB-6241-AF57-3481-408DAC85E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4393849" y="337851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3704CE-8F38-79B0-1D44-963BA5E2C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280" y="4217293"/>
            <a:ext cx="2243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IoT Core</a:t>
            </a:r>
          </a:p>
        </p:txBody>
      </p:sp>
      <p:sp>
        <p:nvSpPr>
          <p:cNvPr id="16" name="Freeform 61" descr="Ninety degree arrow pointing down to the right.">
            <a:extLst>
              <a:ext uri="{FF2B5EF4-FFF2-40B4-BE49-F238E27FC236}">
                <a16:creationId xmlns:a16="http://schemas.microsoft.com/office/drawing/2014/main" id="{BDF95E1C-D1DF-BDDC-3E94-0D6738127AFA}"/>
              </a:ext>
            </a:extLst>
          </p:cNvPr>
          <p:cNvSpPr/>
          <p:nvPr/>
        </p:nvSpPr>
        <p:spPr>
          <a:xfrm flipH="1" flipV="1">
            <a:off x="5519163" y="2505954"/>
            <a:ext cx="816270" cy="914566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9" name="Straight Arrow Connector 18" descr="Right pointing horizontal arrow.">
            <a:extLst>
              <a:ext uri="{FF2B5EF4-FFF2-40B4-BE49-F238E27FC236}">
                <a16:creationId xmlns:a16="http://schemas.microsoft.com/office/drawing/2014/main" id="{D62EBBFA-DA7B-EF5E-69E7-FD44AEF37D97}"/>
              </a:ext>
            </a:extLst>
          </p:cNvPr>
          <p:cNvCxnSpPr>
            <a:cxnSpLocks/>
          </p:cNvCxnSpPr>
          <p:nvPr/>
        </p:nvCxnSpPr>
        <p:spPr>
          <a:xfrm>
            <a:off x="5519165" y="2505955"/>
            <a:ext cx="822325" cy="0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59" descr="Ninety degree arrow pointing up to the right.">
            <a:extLst>
              <a:ext uri="{FF2B5EF4-FFF2-40B4-BE49-F238E27FC236}">
                <a16:creationId xmlns:a16="http://schemas.microsoft.com/office/drawing/2014/main" id="{20156A9B-97FC-CE94-0ED6-BB5473BE98CE}"/>
              </a:ext>
            </a:extLst>
          </p:cNvPr>
          <p:cNvSpPr/>
          <p:nvPr/>
        </p:nvSpPr>
        <p:spPr>
          <a:xfrm flipH="1">
            <a:off x="5519163" y="1591389"/>
            <a:ext cx="816268" cy="914567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25" name="Straight Arrow Connector 24" descr="Vertical line.">
            <a:extLst>
              <a:ext uri="{FF2B5EF4-FFF2-40B4-BE49-F238E27FC236}">
                <a16:creationId xmlns:a16="http://schemas.microsoft.com/office/drawing/2014/main" id="{4FAC0BBE-ED8B-DA76-7429-DEA6758C91D3}"/>
              </a:ext>
            </a:extLst>
          </p:cNvPr>
          <p:cNvCxnSpPr>
            <a:cxnSpLocks/>
          </p:cNvCxnSpPr>
          <p:nvPr/>
        </p:nvCxnSpPr>
        <p:spPr>
          <a:xfrm flipV="1">
            <a:off x="4794636" y="2495608"/>
            <a:ext cx="1" cy="779474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 descr="Vertical line.">
            <a:extLst>
              <a:ext uri="{FF2B5EF4-FFF2-40B4-BE49-F238E27FC236}">
                <a16:creationId xmlns:a16="http://schemas.microsoft.com/office/drawing/2014/main" id="{C35EFAA5-C81B-0D22-474E-D9563810B3B2}"/>
              </a:ext>
            </a:extLst>
          </p:cNvPr>
          <p:cNvCxnSpPr>
            <a:cxnSpLocks/>
          </p:cNvCxnSpPr>
          <p:nvPr/>
        </p:nvCxnSpPr>
        <p:spPr>
          <a:xfrm>
            <a:off x="4794636" y="2505955"/>
            <a:ext cx="717895" cy="0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521CB5E9-EC85-4065-B2E9-9606A39C1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469565" y="136278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17">
            <a:extLst>
              <a:ext uri="{FF2B5EF4-FFF2-40B4-BE49-F238E27FC236}">
                <a16:creationId xmlns:a16="http://schemas.microsoft.com/office/drawing/2014/main" id="{982C8C08-DC5C-98C9-4AE6-BE8FF31A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788" y="1319166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READ</a:t>
            </a:r>
          </a:p>
        </p:txBody>
      </p:sp>
      <p:pic>
        <p:nvPicPr>
          <p:cNvPr id="39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31EA69CE-8582-D8D5-789C-294EECD1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469565" y="226169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17">
            <a:extLst>
              <a:ext uri="{FF2B5EF4-FFF2-40B4-BE49-F238E27FC236}">
                <a16:creationId xmlns:a16="http://schemas.microsoft.com/office/drawing/2014/main" id="{1A07C266-7522-8C31-1176-11AD87027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384" y="2734554"/>
            <a:ext cx="16505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Notification Lambda</a:t>
            </a:r>
          </a:p>
        </p:txBody>
      </p:sp>
      <p:pic>
        <p:nvPicPr>
          <p:cNvPr id="41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14E19121-F16D-633B-5047-6A24C9ECE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464188" y="320757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17">
            <a:extLst>
              <a:ext uri="{FF2B5EF4-FFF2-40B4-BE49-F238E27FC236}">
                <a16:creationId xmlns:a16="http://schemas.microsoft.com/office/drawing/2014/main" id="{4D6B5DFE-242D-D2DB-8216-4CCCCCD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262" y="3687001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Mission Lambda</a:t>
            </a:r>
          </a:p>
        </p:txBody>
      </p:sp>
      <p:cxnSp>
        <p:nvCxnSpPr>
          <p:cNvPr id="44" name="Straight Arrow Connector 43" descr="Right pointing horizontal arrow.">
            <a:extLst>
              <a:ext uri="{FF2B5EF4-FFF2-40B4-BE49-F238E27FC236}">
                <a16:creationId xmlns:a16="http://schemas.microsoft.com/office/drawing/2014/main" id="{785EFBC3-279E-7955-DDD4-A744529177BA}"/>
              </a:ext>
            </a:extLst>
          </p:cNvPr>
          <p:cNvCxnSpPr>
            <a:cxnSpLocks/>
          </p:cNvCxnSpPr>
          <p:nvPr/>
        </p:nvCxnSpPr>
        <p:spPr>
          <a:xfrm>
            <a:off x="6988879" y="1591389"/>
            <a:ext cx="822325" cy="0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IoT shadow resource icon for the Internet of Things category.">
            <a:extLst>
              <a:ext uri="{FF2B5EF4-FFF2-40B4-BE49-F238E27FC236}">
                <a16:creationId xmlns:a16="http://schemas.microsoft.com/office/drawing/2014/main" id="{B6ABADCA-33BE-6D47-CC3E-71F795D573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76624" y="1362789"/>
            <a:ext cx="457200" cy="457200"/>
          </a:xfrm>
          <a:prstGeom prst="rect">
            <a:avLst/>
          </a:prstGeom>
        </p:spPr>
      </p:pic>
      <p:sp>
        <p:nvSpPr>
          <p:cNvPr id="46" name="TextBox 17">
            <a:extLst>
              <a:ext uri="{FF2B5EF4-FFF2-40B4-BE49-F238E27FC236}">
                <a16:creationId xmlns:a16="http://schemas.microsoft.com/office/drawing/2014/main" id="{7E4E6152-23D5-7133-8A82-2F4E85FC0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938" y="1844365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GetThingShadow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Arrow Connector 47" descr="Right pointing horizontal arrow.">
            <a:extLst>
              <a:ext uri="{FF2B5EF4-FFF2-40B4-BE49-F238E27FC236}">
                <a16:creationId xmlns:a16="http://schemas.microsoft.com/office/drawing/2014/main" id="{9CD58B90-33A6-9D74-2132-03BD372A584C}"/>
              </a:ext>
            </a:extLst>
          </p:cNvPr>
          <p:cNvCxnSpPr>
            <a:cxnSpLocks/>
          </p:cNvCxnSpPr>
          <p:nvPr/>
        </p:nvCxnSpPr>
        <p:spPr>
          <a:xfrm>
            <a:off x="7026124" y="2490298"/>
            <a:ext cx="822325" cy="0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Graphic 48" descr="IoT shadow resource icon for the Internet of Things category.">
            <a:extLst>
              <a:ext uri="{FF2B5EF4-FFF2-40B4-BE49-F238E27FC236}">
                <a16:creationId xmlns:a16="http://schemas.microsoft.com/office/drawing/2014/main" id="{6D93D6EB-2468-0095-2794-D7F65EA7D6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3869" y="2261698"/>
            <a:ext cx="457200" cy="457200"/>
          </a:xfrm>
          <a:prstGeom prst="rect">
            <a:avLst/>
          </a:prstGeom>
        </p:spPr>
      </p:pic>
      <p:sp>
        <p:nvSpPr>
          <p:cNvPr id="50" name="TextBox 17">
            <a:extLst>
              <a:ext uri="{FF2B5EF4-FFF2-40B4-BE49-F238E27FC236}">
                <a16:creationId xmlns:a16="http://schemas.microsoft.com/office/drawing/2014/main" id="{C0DCFCE0-F162-9A70-D93D-ED1280B69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8698" y="2753829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GetThingShadow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Arrow Connector 50" descr="Right pointing horizontal arrow.">
            <a:extLst>
              <a:ext uri="{FF2B5EF4-FFF2-40B4-BE49-F238E27FC236}">
                <a16:creationId xmlns:a16="http://schemas.microsoft.com/office/drawing/2014/main" id="{13FE5986-5BD9-207C-2DC7-0D4FF9E23D6D}"/>
              </a:ext>
            </a:extLst>
          </p:cNvPr>
          <p:cNvCxnSpPr>
            <a:cxnSpLocks/>
          </p:cNvCxnSpPr>
          <p:nvPr/>
        </p:nvCxnSpPr>
        <p:spPr>
          <a:xfrm>
            <a:off x="7003390" y="3413583"/>
            <a:ext cx="822325" cy="0"/>
          </a:xfrm>
          <a:prstGeom prst="straightConnector1">
            <a:avLst/>
          </a:prstGeom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IoT shadow resource icon for the Internet of Things category.">
            <a:extLst>
              <a:ext uri="{FF2B5EF4-FFF2-40B4-BE49-F238E27FC236}">
                <a16:creationId xmlns:a16="http://schemas.microsoft.com/office/drawing/2014/main" id="{29CDDF1E-9D66-EC93-1E3A-E1DAA7BBC1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91135" y="3184983"/>
            <a:ext cx="457200" cy="457200"/>
          </a:xfrm>
          <a:prstGeom prst="rect">
            <a:avLst/>
          </a:prstGeom>
        </p:spPr>
      </p:pic>
      <p:sp>
        <p:nvSpPr>
          <p:cNvPr id="54" name="TextBox 17">
            <a:extLst>
              <a:ext uri="{FF2B5EF4-FFF2-40B4-BE49-F238E27FC236}">
                <a16:creationId xmlns:a16="http://schemas.microsoft.com/office/drawing/2014/main" id="{71F51BF3-6E2B-6892-87C1-1A64D111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3449" y="3666559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GetThingShadow</a:t>
            </a: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5AEB4F3E-84FB-116F-E3E9-807EAB74A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145" y="1933615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Lambda</a:t>
            </a:r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A74E4386-F76C-E45E-DDA3-4595E534C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004" y="2211509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READ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C5CF2D08-B05B-AA79-79BD-59D62F37B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232" y="3136583"/>
            <a:ext cx="13620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rgbClr val="FF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READ</a:t>
            </a:r>
          </a:p>
        </p:txBody>
      </p:sp>
      <p:pic>
        <p:nvPicPr>
          <p:cNvPr id="61" name="Graphic 60" descr="IoT shadow resource icon for the Internet of Things category.">
            <a:extLst>
              <a:ext uri="{FF2B5EF4-FFF2-40B4-BE49-F238E27FC236}">
                <a16:creationId xmlns:a16="http://schemas.microsoft.com/office/drawing/2014/main" id="{17D55163-3FE7-2854-8A48-CB0B5820B7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0624" y="2023780"/>
            <a:ext cx="457200" cy="457200"/>
          </a:xfrm>
          <a:prstGeom prst="rect">
            <a:avLst/>
          </a:prstGeom>
        </p:spPr>
      </p:pic>
      <p:pic>
        <p:nvPicPr>
          <p:cNvPr id="63" name="Graphic 16" descr="Document resource icon for the General Icons category.">
            <a:extLst>
              <a:ext uri="{FF2B5EF4-FFF2-40B4-BE49-F238E27FC236}">
                <a16:creationId xmlns:a16="http://schemas.microsoft.com/office/drawing/2014/main" id="{7AA04DFC-95C6-BF62-F8CD-4FB75E457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6424223" y="486364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Box 33">
            <a:extLst>
              <a:ext uri="{FF2B5EF4-FFF2-40B4-BE49-F238E27FC236}">
                <a16:creationId xmlns:a16="http://schemas.microsoft.com/office/drawing/2014/main" id="{CF89C9A4-B2BF-453D-787A-87C23047D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142" y="5385999"/>
            <a:ext cx="1073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b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shadow</a:t>
            </a:r>
            <a:b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</a:p>
        </p:txBody>
      </p:sp>
      <p:sp>
        <p:nvSpPr>
          <p:cNvPr id="69" name="Freeform 59" descr="Ninety degree arrow pointing up to the right.">
            <a:extLst>
              <a:ext uri="{FF2B5EF4-FFF2-40B4-BE49-F238E27FC236}">
                <a16:creationId xmlns:a16="http://schemas.microsoft.com/office/drawing/2014/main" id="{A81D2A5A-1756-3A38-45E9-9E9EF4C4C295}"/>
              </a:ext>
            </a:extLst>
          </p:cNvPr>
          <p:cNvSpPr/>
          <p:nvPr/>
        </p:nvSpPr>
        <p:spPr>
          <a:xfrm flipH="1" flipV="1">
            <a:off x="4794633" y="4485478"/>
            <a:ext cx="1498723" cy="60637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8FA7C4"/>
            </a:solidFill>
            <a:headEnd type="none" w="med" len="sm"/>
            <a:tailEnd type="arrow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3" name="Graphic 81" descr="IoT rule resource icon for the Internet of Things category.">
            <a:extLst>
              <a:ext uri="{FF2B5EF4-FFF2-40B4-BE49-F238E27FC236}">
                <a16:creationId xmlns:a16="http://schemas.microsoft.com/office/drawing/2014/main" id="{D1969495-F058-8420-CA91-0AD1CFBCC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7987508" y="421728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14">
            <a:extLst>
              <a:ext uri="{FF2B5EF4-FFF2-40B4-BE49-F238E27FC236}">
                <a16:creationId xmlns:a16="http://schemas.microsoft.com/office/drawing/2014/main" id="{AA1A1C2D-A354-2B38-1D9D-D2864FC16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3868" y="4676077"/>
            <a:ext cx="14938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IoT rule A</a:t>
            </a:r>
          </a:p>
        </p:txBody>
      </p:sp>
      <p:pic>
        <p:nvPicPr>
          <p:cNvPr id="75" name="Graphic 81" descr="IoT rule resource icon for the Internet of Things category.">
            <a:extLst>
              <a:ext uri="{FF2B5EF4-FFF2-40B4-BE49-F238E27FC236}">
                <a16:creationId xmlns:a16="http://schemas.microsoft.com/office/drawing/2014/main" id="{0720DD8C-B462-D97B-964D-6497AF05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7976624" y="545460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Box 14">
            <a:extLst>
              <a:ext uri="{FF2B5EF4-FFF2-40B4-BE49-F238E27FC236}">
                <a16:creationId xmlns:a16="http://schemas.microsoft.com/office/drawing/2014/main" id="{418096F9-6486-D94E-59FB-4F774D901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984" y="5913397"/>
            <a:ext cx="14938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IoT rule B</a:t>
            </a:r>
          </a:p>
        </p:txBody>
      </p:sp>
      <p:grpSp>
        <p:nvGrpSpPr>
          <p:cNvPr id="79" name="Group 23" descr="Horizontal split double arrow pointing right.">
            <a:extLst>
              <a:ext uri="{FF2B5EF4-FFF2-40B4-BE49-F238E27FC236}">
                <a16:creationId xmlns:a16="http://schemas.microsoft.com/office/drawing/2014/main" id="{48E49E86-50BC-FC18-2CB7-8F82AA5AD71A}"/>
              </a:ext>
            </a:extLst>
          </p:cNvPr>
          <p:cNvGrpSpPr>
            <a:grpSpLocks/>
          </p:cNvGrpSpPr>
          <p:nvPr/>
        </p:nvGrpSpPr>
        <p:grpSpPr bwMode="auto">
          <a:xfrm>
            <a:off x="6957221" y="4494291"/>
            <a:ext cx="1030285" cy="1263265"/>
            <a:chOff x="2674471" y="1567527"/>
            <a:chExt cx="1488360" cy="331243"/>
          </a:xfrm>
        </p:grpSpPr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58C76939-A6F3-2D82-15A3-8A96E4E48DDA}"/>
                </a:ext>
              </a:extLst>
            </p:cNvPr>
            <p:cNvSpPr/>
            <p:nvPr/>
          </p:nvSpPr>
          <p:spPr>
            <a:xfrm rot="10800000">
              <a:off x="3247894" y="1567527"/>
              <a:ext cx="914937" cy="331243"/>
            </a:xfrm>
            <a:custGeom>
              <a:avLst/>
              <a:gdLst>
                <a:gd name="connsiteX0" fmla="*/ 0 w 622300"/>
                <a:gd name="connsiteY0" fmla="*/ 0 h 1574800"/>
                <a:gd name="connsiteX1" fmla="*/ 622300 w 622300"/>
                <a:gd name="connsiteY1" fmla="*/ 0 h 1574800"/>
                <a:gd name="connsiteX2" fmla="*/ 622300 w 622300"/>
                <a:gd name="connsiteY2" fmla="*/ 1574800 h 1574800"/>
                <a:gd name="connsiteX3" fmla="*/ 482600 w 622300"/>
                <a:gd name="connsiteY3" fmla="*/ 1574800 h 1574800"/>
                <a:gd name="connsiteX4" fmla="*/ 0 w 622300"/>
                <a:gd name="connsiteY4" fmla="*/ 1574800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1574800">
                  <a:moveTo>
                    <a:pt x="0" y="0"/>
                  </a:moveTo>
                  <a:lnTo>
                    <a:pt x="622300" y="0"/>
                  </a:lnTo>
                  <a:lnTo>
                    <a:pt x="622300" y="1574800"/>
                  </a:lnTo>
                  <a:lnTo>
                    <a:pt x="482600" y="1574800"/>
                  </a:lnTo>
                  <a:lnTo>
                    <a:pt x="0" y="1574800"/>
                  </a:lnTo>
                </a:path>
              </a:pathLst>
            </a:custGeom>
            <a:noFill/>
            <a:ln w="15875">
              <a:solidFill>
                <a:srgbClr val="8FA7C4"/>
              </a:solidFill>
              <a:headEnd type="arrow" w="med" len="sm"/>
              <a:tailEnd type="arrow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7ECB857C-F0E3-B47E-9850-3CAF8A49A024}"/>
                </a:ext>
              </a:extLst>
            </p:cNvPr>
            <p:cNvCxnSpPr>
              <a:cxnSpLocks/>
            </p:cNvCxnSpPr>
            <p:nvPr/>
          </p:nvCxnSpPr>
          <p:spPr>
            <a:xfrm>
              <a:off x="2674471" y="1729199"/>
              <a:ext cx="573423" cy="0"/>
            </a:xfrm>
            <a:prstGeom prst="straightConnector1">
              <a:avLst/>
            </a:prstGeom>
            <a:ln w="15875">
              <a:solidFill>
                <a:srgbClr val="8FA7C4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33">
            <a:extLst>
              <a:ext uri="{FF2B5EF4-FFF2-40B4-BE49-F238E27FC236}">
                <a16:creationId xmlns:a16="http://schemas.microsoft.com/office/drawing/2014/main" id="{D8E181B5-ADC7-2608-4192-D0B3DB7C4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454" y="5115476"/>
            <a:ext cx="22062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/shadow/update/documents</a:t>
            </a:r>
          </a:p>
        </p:txBody>
      </p:sp>
    </p:spTree>
    <p:extLst>
      <p:ext uri="{BB962C8B-B14F-4D97-AF65-F5344CB8AC3E}">
        <p14:creationId xmlns:p14="http://schemas.microsoft.com/office/powerpoint/2010/main" val="16358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82D0E-AF9B-9930-59B4-B896A62D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615D497-934B-0380-3A67-E80DDEE260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Repeated reads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0F815-042B-2B4C-72AD-CB731494F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6"/>
            <a:ext cx="6396066" cy="11897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Independent workflows fetched the same robot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saw an opportunity to eliminate redundant GetThingShadow calls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9552548-5CD8-9CFE-079E-0B2A041A40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One classic record for many concerns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DA7CB-B68E-42B9-09F1-060A37B842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Older devices kept state, settings, and software information in the classic shadow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operation on one field was metered against that shadow’s record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35BF45-8E1F-0AA2-B1CC-C185008178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Oversized routed events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A65D8-4E49-5189-D6F5-8B8326B751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2345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Shadow document size was getting out of hand (15kB+)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documented MQTT republish crossed four 5 KB message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Another opportunity to cut down on cost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C0AE796-E376-0A27-0059-32837088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39" y="1106576"/>
            <a:ext cx="3591179" cy="3687845"/>
          </a:xfrm>
        </p:spPr>
        <p:txBody>
          <a:bodyPr>
            <a:normAutofit/>
          </a:bodyPr>
          <a:lstStyle/>
          <a:p>
            <a:r>
              <a:rPr lang="en-US" dirty="0"/>
              <a:t>The evidence appeared in three places</a:t>
            </a:r>
          </a:p>
        </p:txBody>
      </p:sp>
    </p:spTree>
    <p:extLst>
      <p:ext uri="{BB962C8B-B14F-4D97-AF65-F5344CB8AC3E}">
        <p14:creationId xmlns:p14="http://schemas.microsoft.com/office/powerpoint/2010/main" val="364603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DFE3-201B-5AAD-6B01-FCA1ED57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252F2E1-C490-DDE1-FFAB-9A2EAC50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39" y="1109243"/>
            <a:ext cx="10017785" cy="717713"/>
          </a:xfrm>
        </p:spPr>
        <p:txBody>
          <a:bodyPr/>
          <a:lstStyle/>
          <a:p>
            <a:r>
              <a:rPr lang="en-US" dirty="0"/>
              <a:t>Three architecture improvements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231DA9CA-172B-AD56-9094-11C2D726E446}"/>
              </a:ext>
            </a:extLst>
          </p:cNvPr>
          <p:cNvSpPr/>
          <p:nvPr/>
        </p:nvSpPr>
        <p:spPr>
          <a:xfrm rot="10800000">
            <a:off x="692018" y="2151200"/>
            <a:ext cx="3144713" cy="3265752"/>
          </a:xfrm>
          <a:prstGeom prst="roundRect">
            <a:avLst>
              <a:gd name="adj" fmla="val 4824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32F3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B3787AFE-DC31-3DA8-9D71-326F5026617B}"/>
              </a:ext>
            </a:extLst>
          </p:cNvPr>
          <p:cNvSpPr txBox="1">
            <a:spLocks/>
          </p:cNvSpPr>
          <p:nvPr/>
        </p:nvSpPr>
        <p:spPr>
          <a:xfrm>
            <a:off x="1008681" y="2386651"/>
            <a:ext cx="2511387" cy="2084697"/>
          </a:xfrm>
          <a:prstGeom prst="rect">
            <a:avLst/>
          </a:prstGeom>
        </p:spPr>
        <p:txBody>
          <a:bodyPr vert="horz" lIns="0" tIns="146304" rIns="0" bIns="146304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0" dirty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Use nearby state and a selected-field cache before fetching the shadow</a:t>
            </a:r>
            <a:endParaRPr lang="en-US" sz="1600" b="0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8E7BD24B-8A0A-B3E6-6857-A471F9FF2E52}"/>
              </a:ext>
            </a:extLst>
          </p:cNvPr>
          <p:cNvSpPr/>
          <p:nvPr/>
        </p:nvSpPr>
        <p:spPr>
          <a:xfrm rot="10800000">
            <a:off x="4569681" y="2151200"/>
            <a:ext cx="3144713" cy="3265752"/>
          </a:xfrm>
          <a:prstGeom prst="roundRect">
            <a:avLst>
              <a:gd name="adj" fmla="val 4824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32F3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8B002AFB-4906-8810-A036-8FFCAF33070F}"/>
              </a:ext>
            </a:extLst>
          </p:cNvPr>
          <p:cNvSpPr txBox="1">
            <a:spLocks/>
          </p:cNvSpPr>
          <p:nvPr/>
        </p:nvSpPr>
        <p:spPr>
          <a:xfrm>
            <a:off x="4886343" y="2386651"/>
            <a:ext cx="2511387" cy="2084697"/>
          </a:xfrm>
          <a:prstGeom prst="rect">
            <a:avLst/>
          </a:prstGeom>
        </p:spPr>
        <p:txBody>
          <a:bodyPr vert="horz" lIns="0" tIns="146304" rIns="0" bIns="146304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0" dirty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Move classic fields into smaller named shadows through a staged migration</a:t>
            </a:r>
            <a:endParaRPr lang="en-US" sz="1600" b="0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3FAC61BA-F37C-EE8F-B4CD-81FFF717E95A}"/>
              </a:ext>
            </a:extLst>
          </p:cNvPr>
          <p:cNvSpPr/>
          <p:nvPr/>
        </p:nvSpPr>
        <p:spPr>
          <a:xfrm rot="10800000">
            <a:off x="8447343" y="2151200"/>
            <a:ext cx="3144713" cy="3265752"/>
          </a:xfrm>
          <a:prstGeom prst="roundRect">
            <a:avLst>
              <a:gd name="adj" fmla="val 4824"/>
            </a:avLst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32F3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9B2AF3-CFB8-86F1-9366-156C26186551}"/>
              </a:ext>
            </a:extLst>
          </p:cNvPr>
          <p:cNvSpPr txBox="1">
            <a:spLocks/>
          </p:cNvSpPr>
          <p:nvPr/>
        </p:nvSpPr>
        <p:spPr>
          <a:xfrm>
            <a:off x="8764005" y="2386651"/>
            <a:ext cx="2511387" cy="2084697"/>
          </a:xfrm>
          <a:prstGeom prst="rect">
            <a:avLst/>
          </a:prstGeom>
        </p:spPr>
        <p:txBody>
          <a:bodyPr vert="horz" lIns="0" tIns="146304" rIns="0" bIns="146304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0" dirty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Send consumers the fields they use instead of the whole document</a:t>
            </a:r>
            <a:endParaRPr lang="en-US" sz="1600" b="0" dirty="0">
              <a:solidFill>
                <a:srgbClr val="FFFFFF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3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5AB6-9581-7843-C250-0E532FE2E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D4E2-5395-551B-9C6B-D5C5E045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1: Layered Shadow Reads</a:t>
            </a:r>
          </a:p>
        </p:txBody>
      </p:sp>
    </p:spTree>
    <p:extLst>
      <p:ext uri="{BB962C8B-B14F-4D97-AF65-F5344CB8AC3E}">
        <p14:creationId xmlns:p14="http://schemas.microsoft.com/office/powerpoint/2010/main" val="14837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3ED2-DF8E-19FB-C9F6-383DC815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7E7978-B888-B51F-947C-5612A2D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1: Layered Shadow Reads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24F335-876D-7EE7-8583-34F79BBA8222}"/>
              </a:ext>
            </a:extLst>
          </p:cNvPr>
          <p:cNvGrpSpPr/>
          <p:nvPr/>
        </p:nvGrpSpPr>
        <p:grpSpPr>
          <a:xfrm>
            <a:off x="3729316" y="2908255"/>
            <a:ext cx="4733365" cy="1931567"/>
            <a:chOff x="3729316" y="2908255"/>
            <a:chExt cx="4733365" cy="1931567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DDA3081-52FB-9DB9-D68C-669E330CD475}"/>
                </a:ext>
              </a:extLst>
            </p:cNvPr>
            <p:cNvSpPr/>
            <p:nvPr/>
          </p:nvSpPr>
          <p:spPr>
            <a:xfrm>
              <a:off x="3729316" y="2908255"/>
              <a:ext cx="2075513" cy="1041490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Caller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CEDFD35-5A58-DA52-8EF1-349FA647575D}"/>
                </a:ext>
              </a:extLst>
            </p:cNvPr>
            <p:cNvSpPr/>
            <p:nvPr/>
          </p:nvSpPr>
          <p:spPr>
            <a:xfrm>
              <a:off x="6387168" y="2908255"/>
              <a:ext cx="2075513" cy="1041490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IoT Core</a:t>
              </a:r>
              <a:br>
                <a:rPr lang="en-US" dirty="0"/>
              </a:br>
              <a:r>
                <a:rPr lang="en-US" dirty="0" err="1"/>
                <a:t>GetThingShadow</a:t>
              </a:r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992F61-4F34-C268-CD94-27C124688D67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5804829" y="3429000"/>
              <a:ext cx="58233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EC7583-DE87-3D31-1158-A7C14FA2FE66}"/>
                </a:ext>
              </a:extLst>
            </p:cNvPr>
            <p:cNvSpPr txBox="1"/>
            <p:nvPr/>
          </p:nvSpPr>
          <p:spPr>
            <a:xfrm>
              <a:off x="4715318" y="4470490"/>
              <a:ext cx="2761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Repeated for stable reads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604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81481E-6 L -0.25599 -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D38B-F5C3-6CA5-2AA1-8EAC35C9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83AF12-C0D8-C1C4-0BEB-F2393509A2B3}"/>
              </a:ext>
            </a:extLst>
          </p:cNvPr>
          <p:cNvGrpSpPr/>
          <p:nvPr/>
        </p:nvGrpSpPr>
        <p:grpSpPr>
          <a:xfrm>
            <a:off x="632010" y="2890329"/>
            <a:ext cx="4733365" cy="1931567"/>
            <a:chOff x="3729316" y="2908255"/>
            <a:chExt cx="4733365" cy="193156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B95B85B-9FFB-8CB9-C49F-3924AE9451A7}"/>
                </a:ext>
              </a:extLst>
            </p:cNvPr>
            <p:cNvSpPr/>
            <p:nvPr/>
          </p:nvSpPr>
          <p:spPr>
            <a:xfrm>
              <a:off x="3729316" y="2908255"/>
              <a:ext cx="2075513" cy="1041490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Caller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E61D062-11D0-75C9-4D62-87576EC2272C}"/>
                </a:ext>
              </a:extLst>
            </p:cNvPr>
            <p:cNvSpPr/>
            <p:nvPr/>
          </p:nvSpPr>
          <p:spPr>
            <a:xfrm>
              <a:off x="6387168" y="2908255"/>
              <a:ext cx="2075513" cy="1041490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IoT Core</a:t>
              </a:r>
              <a:br>
                <a:rPr lang="en-US" dirty="0"/>
              </a:br>
              <a:r>
                <a:rPr lang="en-US" dirty="0" err="1"/>
                <a:t>GetThingShadow</a:t>
              </a:r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353AA21-0A12-ABB3-0002-07BBD0E18CAF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5804829" y="3429000"/>
              <a:ext cx="58233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AE7D1C-DD96-F0DD-74AC-47D5802DD4C3}"/>
                </a:ext>
              </a:extLst>
            </p:cNvPr>
            <p:cNvSpPr txBox="1"/>
            <p:nvPr/>
          </p:nvSpPr>
          <p:spPr>
            <a:xfrm>
              <a:off x="4715318" y="4470490"/>
              <a:ext cx="2761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Repeated for stable reads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2D2854F0-2116-73D6-6C69-C3FAC978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1: Layered Shadow Reads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65AFA8-EC26-8EFF-5D1E-FF0951F7CA17}"/>
              </a:ext>
            </a:extLst>
          </p:cNvPr>
          <p:cNvGrpSpPr/>
          <p:nvPr/>
        </p:nvGrpSpPr>
        <p:grpSpPr>
          <a:xfrm>
            <a:off x="7034807" y="1203932"/>
            <a:ext cx="4208391" cy="4813046"/>
            <a:chOff x="7068674" y="1300880"/>
            <a:chExt cx="4208391" cy="425624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8790C7E-05F7-81C9-D561-854C1AF057D2}"/>
                </a:ext>
              </a:extLst>
            </p:cNvPr>
            <p:cNvSpPr/>
            <p:nvPr/>
          </p:nvSpPr>
          <p:spPr>
            <a:xfrm>
              <a:off x="7068674" y="1300880"/>
              <a:ext cx="4208391" cy="859415"/>
            </a:xfrm>
            <a:prstGeom prst="roundRect">
              <a:avLst/>
            </a:prstGeom>
            <a:solidFill>
              <a:srgbClr val="0F141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Request-local state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B7B732C-43E9-2EBA-6653-6426AD5E8297}"/>
                </a:ext>
              </a:extLst>
            </p:cNvPr>
            <p:cNvSpPr/>
            <p:nvPr/>
          </p:nvSpPr>
          <p:spPr>
            <a:xfrm>
              <a:off x="7068674" y="2433155"/>
              <a:ext cx="4208391" cy="859415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Payload supplied by caller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B1D2C2F-74A4-4932-DF49-EF9AA78C1E3E}"/>
                </a:ext>
              </a:extLst>
            </p:cNvPr>
            <p:cNvSpPr/>
            <p:nvPr/>
          </p:nvSpPr>
          <p:spPr>
            <a:xfrm>
              <a:off x="7068674" y="3565430"/>
              <a:ext cx="4208391" cy="859415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DynamoDB &lt;</a:t>
              </a:r>
              <a:r>
                <a:rPr lang="en-US" dirty="0" err="1"/>
                <a:t>device_id</a:t>
              </a:r>
              <a:r>
                <a:rPr lang="en-US" dirty="0"/>
                <a:t>&gt;:&lt;</a:t>
              </a:r>
              <a:r>
                <a:rPr lang="en-US" dirty="0" err="1"/>
                <a:t>shadow_field</a:t>
              </a:r>
              <a:r>
                <a:rPr lang="en-US" dirty="0"/>
                <a:t>&gt;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150E7E69-2EC7-1CCB-D9A1-53DC77BA2662}"/>
                </a:ext>
              </a:extLst>
            </p:cNvPr>
            <p:cNvSpPr/>
            <p:nvPr/>
          </p:nvSpPr>
          <p:spPr>
            <a:xfrm>
              <a:off x="7068674" y="4697705"/>
              <a:ext cx="4208391" cy="859415"/>
            </a:xfrm>
            <a:prstGeom prst="roundRect">
              <a:avLst/>
            </a:prstGeom>
            <a:solidFill>
              <a:srgbClr val="0F1419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IoT Core </a:t>
              </a:r>
              <a:r>
                <a:rPr lang="en-US" dirty="0" err="1"/>
                <a:t>GetThingShadow</a:t>
              </a:r>
              <a:endParaRPr lang="en-US" dirty="0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6C53E68-544B-072C-CAAD-394C18E6399C}"/>
                </a:ext>
              </a:extLst>
            </p:cNvPr>
            <p:cNvCxnSpPr>
              <a:cxnSpLocks/>
              <a:stCxn id="9" idx="2"/>
              <a:endCxn id="37" idx="0"/>
            </p:cNvCxnSpPr>
            <p:nvPr/>
          </p:nvCxnSpPr>
          <p:spPr>
            <a:xfrm>
              <a:off x="9172870" y="2160295"/>
              <a:ext cx="0" cy="27286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85EE99E-44CB-267E-8C00-4FB6E2F673F7}"/>
                </a:ext>
              </a:extLst>
            </p:cNvPr>
            <p:cNvCxnSpPr>
              <a:cxnSpLocks/>
              <a:stCxn id="37" idx="2"/>
              <a:endCxn id="38" idx="0"/>
            </p:cNvCxnSpPr>
            <p:nvPr/>
          </p:nvCxnSpPr>
          <p:spPr>
            <a:xfrm>
              <a:off x="9172870" y="3292570"/>
              <a:ext cx="0" cy="27286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B49B348-70DE-AF6C-BA7C-0A64658995C0}"/>
                </a:ext>
              </a:extLst>
            </p:cNvPr>
            <p:cNvCxnSpPr>
              <a:cxnSpLocks/>
              <a:stCxn id="38" idx="2"/>
              <a:endCxn id="39" idx="0"/>
            </p:cNvCxnSpPr>
            <p:nvPr/>
          </p:nvCxnSpPr>
          <p:spPr>
            <a:xfrm>
              <a:off x="9172870" y="4424845"/>
              <a:ext cx="0" cy="27286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254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8DC6-8CAF-4725-5025-BD10318C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F5611B-C5B5-7A1C-ECE8-B1C2D00C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1: Layered Shadow Reads -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9D32BC-9EF0-C3ED-E6C6-174F43CEB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234" y="1720850"/>
            <a:ext cx="9063532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8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D1FC-F039-499E-5A6A-78E4E569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C9AC82-E37A-5B75-6435-8024785D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1: Layered Shadow Reads -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403B8-2EC2-FAD9-EE6B-ECD6C8289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052" y="2315591"/>
            <a:ext cx="5907807" cy="2226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D0467E-495D-A1C7-AF91-42957E7F7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41" y="2315591"/>
            <a:ext cx="5920859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37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40CC-B97B-6BFC-F9FF-71449953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D4824EA-6F9A-E39D-7E81-BAA3D06E0D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access pattern is a small key lookup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99821-1B60-2A85-D844-DDF3A1402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6"/>
            <a:ext cx="6396066" cy="13033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One item per robot, with selected reported fields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The SDK needs </a:t>
            </a:r>
            <a:r>
              <a:rPr lang="en-US" dirty="0" err="1">
                <a:solidFill>
                  <a:srgbClr val="FFFFFF"/>
                </a:solidFill>
                <a:ea typeface="Amazon Ember Display"/>
                <a:cs typeface="Amazon Ember Display"/>
              </a:rPr>
              <a:t>GetItem</a:t>
            </a: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 and </a:t>
            </a:r>
            <a:r>
              <a:rPr lang="en-US" dirty="0" err="1">
                <a:solidFill>
                  <a:srgbClr val="FFFFFF"/>
                </a:solidFill>
                <a:ea typeface="Amazon Ember Display"/>
                <a:cs typeface="Amazon Ember Display"/>
              </a:rPr>
              <a:t>UpdateItem</a:t>
            </a: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, and already uses DynamoDB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D960AC-3236-A996-280C-8D37F3D6E5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56" y="3004268"/>
            <a:ext cx="6396066" cy="424732"/>
          </a:xfrm>
        </p:spPr>
        <p:txBody>
          <a:bodyPr>
            <a:normAutofit/>
          </a:bodyPr>
          <a:lstStyle/>
          <a:p>
            <a:r>
              <a:rPr lang="en-US" dirty="0"/>
              <a:t>DynamoDB fits this path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4DE2C-BB24-DF62-B7C1-78088BB32A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On-demand request billing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IAM Access through the AWS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Durable entries with TTL cleanup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909100-A9BC-BE59-8F64-1B63608BD9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When does </a:t>
            </a:r>
            <a:r>
              <a:rPr lang="en-US" dirty="0" err="1"/>
              <a:t>ElastiCache</a:t>
            </a:r>
            <a:r>
              <a:rPr lang="en-US" dirty="0"/>
              <a:t> (Redis) become attractive?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9B2E24-B5F1-E12B-E543-C9A1690892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2345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tighter latency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Redis data structures or atomic commands are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shared cache already in the VPC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3CDBEAE-796E-6633-AF2F-E8325DA4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106576"/>
            <a:ext cx="3753436" cy="3687845"/>
          </a:xfrm>
        </p:spPr>
        <p:txBody>
          <a:bodyPr>
            <a:normAutofit/>
          </a:bodyPr>
          <a:lstStyle/>
          <a:p>
            <a:r>
              <a:rPr lang="en-US" dirty="0"/>
              <a:t>Why DynamoDB for this cache?</a:t>
            </a:r>
          </a:p>
        </p:txBody>
      </p:sp>
    </p:spTree>
    <p:extLst>
      <p:ext uri="{BB962C8B-B14F-4D97-AF65-F5344CB8AC3E}">
        <p14:creationId xmlns:p14="http://schemas.microsoft.com/office/powerpoint/2010/main" val="144082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3D0E245-5C6A-2404-9FF5-5524C913CD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Reuse close to the caller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C8929-B2D3-B672-E7A1-C02AEB92B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6"/>
            <a:ext cx="6396066" cy="130336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access resolves the field and retains the fetched state inside the ThingShadow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Later accesses on the same object avoid another IoT Core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Fresh objects check the shared DynamoDB cache before calling GetThingShadow.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3916FF5-D79B-BB6B-9535-101E323E75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56" y="3004268"/>
            <a:ext cx="6396066" cy="424732"/>
          </a:xfrm>
        </p:spPr>
        <p:txBody>
          <a:bodyPr/>
          <a:lstStyle/>
          <a:p>
            <a:r>
              <a:rPr lang="en-US" dirty="0"/>
              <a:t>Cache tradeoffs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AC4C7-54C7-5593-B814-51A6A81CD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DynamoDB reads and writes replace some of the removed Device Shadow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normal cache miss fetches from IoT Core and selectively writes the field 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TTL provides eventual cleanup; strict freshness requires a read-time age or version policy.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3FD99B-E58E-5048-654E-F44B566B2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Worst case: cache unavailable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2D2480-F754-7927-B0DA-493D42E5C6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2345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Cache errors fall through to IoT Core, allowing the application workflow to continue.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prolonged outage returns fleet traffic to the origin and increases latency and cost.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FE861E-7D6A-3E4B-A923-6538EC0F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106576"/>
            <a:ext cx="3753436" cy="3687845"/>
          </a:xfrm>
        </p:spPr>
        <p:txBody>
          <a:bodyPr>
            <a:normAutofit/>
          </a:bodyPr>
          <a:lstStyle/>
          <a:p>
            <a:r>
              <a:rPr lang="en-US" dirty="0"/>
              <a:t>Pattern 1:</a:t>
            </a:r>
            <a:br>
              <a:rPr lang="en-US" dirty="0"/>
            </a:br>
            <a:r>
              <a:rPr lang="en-US" dirty="0"/>
              <a:t>Layered Shadow Reads</a:t>
            </a:r>
          </a:p>
        </p:txBody>
      </p:sp>
    </p:spTree>
    <p:extLst>
      <p:ext uri="{BB962C8B-B14F-4D97-AF65-F5344CB8AC3E}">
        <p14:creationId xmlns:p14="http://schemas.microsoft.com/office/powerpoint/2010/main" val="297614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38B0-470F-DB62-AD12-988F51AC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2: Project smaller downstream events</a:t>
            </a:r>
          </a:p>
        </p:txBody>
      </p:sp>
    </p:spTree>
    <p:extLst>
      <p:ext uri="{BB962C8B-B14F-4D97-AF65-F5344CB8AC3E}">
        <p14:creationId xmlns:p14="http://schemas.microsoft.com/office/powerpoint/2010/main" val="1274516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523DC98-57DB-49D9-BA43-21AB3E8955F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Projection at the routing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F98D29-395A-4D18-A158-83B4AD83B305}"/>
              </a:ext>
            </a:extLst>
          </p:cNvPr>
          <p:cNvSpPr>
            <a:spLocks noGrp="1"/>
          </p:cNvSpPr>
          <p:nvPr/>
        </p:nvSpPr>
        <p:spPr>
          <a:xfrm>
            <a:off x="571500" y="1238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F5A67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1">
                <a:solidFill>
                  <a:srgbClr val="FF5A67"/>
                </a:solidFill>
                <a:latin typeface="Amazon Ember Display"/>
                <a:ea typeface="Amazon Ember Display"/>
                <a:cs typeface="Amazon Ember Display"/>
              </a:rPr>
              <a:t>BEFORE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D33188-B0A7-49F5-9A24-EDF20A42785B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0F141A"/>
          </a:solidFill>
          <a:ln w="19050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3BFCE-183A-438A-9B7A-F6BC5842664F}"/>
              </a:ext>
            </a:extLst>
          </p:cNvPr>
          <p:cNvSpPr>
            <a:spLocks noGrp="1"/>
          </p:cNvSpPr>
          <p:nvPr/>
        </p:nvSpPr>
        <p:spPr>
          <a:xfrm>
            <a:off x="714375" y="208597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Shadow documents event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A7582-07E7-4A1E-9A5D-51D737D9BDB4}"/>
              </a:ext>
            </a:extLst>
          </p:cNvPr>
          <p:cNvSpPr>
            <a:spLocks noGrp="1"/>
          </p:cNvSpPr>
          <p:nvPr/>
        </p:nvSpPr>
        <p:spPr>
          <a:xfrm>
            <a:off x="714375" y="24193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over 15 KB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7268AB-B540-44C5-AD9D-88D6746CC88F}"/>
              </a:ext>
            </a:extLst>
          </p:cNvPr>
          <p:cNvSpPr>
            <a:spLocks noGrp="1"/>
          </p:cNvSpPr>
          <p:nvPr/>
        </p:nvSpPr>
        <p:spPr>
          <a:xfrm>
            <a:off x="3714750" y="1952625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0F141A"/>
          </a:solidFill>
          <a:ln w="19050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F62CE0-535A-46AC-AFDE-A15280F5D8E1}"/>
              </a:ext>
            </a:extLst>
          </p:cNvPr>
          <p:cNvSpPr>
            <a:spLocks noGrp="1"/>
          </p:cNvSpPr>
          <p:nvPr/>
        </p:nvSpPr>
        <p:spPr>
          <a:xfrm>
            <a:off x="3810000" y="208597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Downstream rules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D1BD6E-5CD3-4FFC-9941-D04DF34822BC}"/>
              </a:ext>
            </a:extLst>
          </p:cNvPr>
          <p:cNvSpPr>
            <a:spLocks noGrp="1"/>
          </p:cNvSpPr>
          <p:nvPr/>
        </p:nvSpPr>
        <p:spPr>
          <a:xfrm>
            <a:off x="3810000" y="24193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complete document</a:t>
            </a:r>
          </a:p>
        </p:txBody>
      </p:sp>
      <p:cxnSp>
        <p:nvCxnSpPr>
          <p:cNvPr id="81" name="Straight Arrow Connector 80"/>
          <p:cNvCxnSpPr>
            <a:stCxn id="3" idx="3"/>
            <a:endCxn id="6" idx="1"/>
          </p:cNvCxnSpPr>
          <p:nvPr/>
        </p:nvCxnSpPr>
        <p:spPr>
          <a:xfrm>
            <a:off x="3000375" y="2381250"/>
            <a:ext cx="714375" cy="0"/>
          </a:xfrm>
          <a:prstGeom prst="straightConnector1">
            <a:avLst/>
          </a:prstGeom>
          <a:ln w="23813">
            <a:solidFill>
              <a:srgbClr val="FF5A67"/>
            </a:solidFill>
            <a:prstDash val="solid"/>
            <a:tailEnd type="triangle" w="sm" len="sm"/>
          </a:ln>
        </p:spPr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13382C-CAE8-4B2D-A421-DAEB76C0C855}"/>
              </a:ext>
            </a:extLst>
          </p:cNvPr>
          <p:cNvSpPr>
            <a:spLocks noGrp="1"/>
          </p:cNvSpPr>
          <p:nvPr/>
        </p:nvSpPr>
        <p:spPr>
          <a:xfrm>
            <a:off x="2238375" y="30670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F5A67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75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4 × 5 KB units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B64F7A-F227-4AA5-905C-6108A030820A}"/>
              </a:ext>
            </a:extLst>
          </p:cNvPr>
          <p:cNvSpPr>
            <a:spLocks noGrp="1"/>
          </p:cNvSpPr>
          <p:nvPr/>
        </p:nvSpPr>
        <p:spPr>
          <a:xfrm>
            <a:off x="1571625" y="34575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825" b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rPr>
              <a:t>documented MQTT republish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2CE54-009B-4F37-B664-4CA58221FA59}"/>
              </a:ext>
            </a:extLst>
          </p:cNvPr>
          <p:cNvSpPr>
            <a:spLocks noGrp="1"/>
          </p:cNvSpPr>
          <p:nvPr/>
        </p:nvSpPr>
        <p:spPr>
          <a:xfrm>
            <a:off x="6238875" y="1143000"/>
            <a:ext cx="28575" cy="4857750"/>
          </a:xfrm>
          <a:prstGeom prst="rect">
            <a:avLst/>
          </a:prstGeom>
          <a:solidFill>
            <a:srgbClr val="C925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133B2-B214-44A8-A9AC-C33FD55B0C7E}"/>
              </a:ext>
            </a:extLst>
          </p:cNvPr>
          <p:cNvSpPr>
            <a:spLocks noGrp="1"/>
          </p:cNvSpPr>
          <p:nvPr/>
        </p:nvSpPr>
        <p:spPr>
          <a:xfrm>
            <a:off x="6715125" y="314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F9900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1" dirty="0">
                <a:solidFill>
                  <a:srgbClr val="FF9900"/>
                </a:solidFill>
                <a:latin typeface="Amazon Ember Display"/>
                <a:ea typeface="Amazon Ember Display"/>
                <a:cs typeface="Amazon Ember Display"/>
              </a:rPr>
              <a:t>CURRENT ARCHITECTURE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DED007B-5807-4A75-9218-DA1EA3B250DB}"/>
              </a:ext>
            </a:extLst>
          </p:cNvPr>
          <p:cNvSpPr>
            <a:spLocks noGrp="1"/>
          </p:cNvSpPr>
          <p:nvPr/>
        </p:nvSpPr>
        <p:spPr>
          <a:xfrm>
            <a:off x="6619875" y="1009649"/>
            <a:ext cx="4953000" cy="2674073"/>
          </a:xfrm>
          <a:prstGeom prst="roundRect">
            <a:avLst>
              <a:gd name="adj" fmla="val 4167"/>
            </a:avLst>
          </a:prstGeom>
          <a:solidFill>
            <a:srgbClr val="11182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A4FB955-13F4-4613-93A8-694A0CC5E27F}"/>
              </a:ext>
            </a:extLst>
          </p:cNvPr>
          <p:cNvSpPr>
            <a:spLocks noGrp="1"/>
          </p:cNvSpPr>
          <p:nvPr/>
        </p:nvSpPr>
        <p:spPr>
          <a:xfrm>
            <a:off x="7964847" y="1131359"/>
            <a:ext cx="2002536" cy="1033272"/>
          </a:xfrm>
          <a:prstGeom prst="roundRect">
            <a:avLst>
              <a:gd name="adj" fmla="val 9756"/>
            </a:avLst>
          </a:prstGeom>
          <a:solidFill>
            <a:srgbClr val="0F1419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4239C-2018-4973-BAEF-9E1DABC4D91D}"/>
              </a:ext>
            </a:extLst>
          </p:cNvPr>
          <p:cNvSpPr>
            <a:spLocks noGrp="1"/>
          </p:cNvSpPr>
          <p:nvPr/>
        </p:nvSpPr>
        <p:spPr>
          <a:xfrm>
            <a:off x="8174397" y="1388117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Device Shadow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19014-A37A-4FE5-9083-EE123666393E}"/>
              </a:ext>
            </a:extLst>
          </p:cNvPr>
          <p:cNvSpPr>
            <a:spLocks noGrp="1"/>
          </p:cNvSpPr>
          <p:nvPr/>
        </p:nvSpPr>
        <p:spPr>
          <a:xfrm>
            <a:off x="8174397" y="1721492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/shadow/update/documents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393F1AA-D6B2-4919-BE5E-04F258B1B6FF}"/>
              </a:ext>
            </a:extLst>
          </p:cNvPr>
          <p:cNvSpPr>
            <a:spLocks noGrp="1"/>
          </p:cNvSpPr>
          <p:nvPr/>
        </p:nvSpPr>
        <p:spPr>
          <a:xfrm>
            <a:off x="7953375" y="2441876"/>
            <a:ext cx="2000250" cy="1028700"/>
          </a:xfrm>
          <a:prstGeom prst="roundRect">
            <a:avLst>
              <a:gd name="adj" fmla="val 7407"/>
            </a:avLst>
          </a:prstGeom>
          <a:solidFill>
            <a:srgbClr val="0F141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BA8E95-05B5-445C-98D3-4810DBC236AF}"/>
              </a:ext>
            </a:extLst>
          </p:cNvPr>
          <p:cNvSpPr>
            <a:spLocks noGrp="1"/>
          </p:cNvSpPr>
          <p:nvPr/>
        </p:nvSpPr>
        <p:spPr>
          <a:xfrm>
            <a:off x="8048625" y="2575226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IoT Topic Rule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DD1053-6B03-4A98-AB7E-1D872EC175D7}"/>
              </a:ext>
            </a:extLst>
          </p:cNvPr>
          <p:cNvSpPr>
            <a:spLocks noGrp="1"/>
          </p:cNvSpPr>
          <p:nvPr/>
        </p:nvSpPr>
        <p:spPr>
          <a:xfrm>
            <a:off x="8048625" y="2908601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AWS::IoT::TopicRule</a:t>
            </a:r>
          </a:p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SQL SELECT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CBCA586-926A-4839-BED5-DCEC7D76ED6D}"/>
              </a:ext>
            </a:extLst>
          </p:cNvPr>
          <p:cNvSpPr>
            <a:spLocks noGrp="1"/>
          </p:cNvSpPr>
          <p:nvPr/>
        </p:nvSpPr>
        <p:spPr>
          <a:xfrm>
            <a:off x="10287000" y="904875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161D26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75" b="1" dirty="0">
                <a:solidFill>
                  <a:srgbClr val="161D26"/>
                </a:solidFill>
                <a:latin typeface="Amazon Ember Display"/>
                <a:ea typeface="Amazon Ember Display"/>
                <a:cs typeface="Amazon Ember Display"/>
              </a:rPr>
              <a:t>SELECT required fields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99E5406-EB1A-4432-B13E-2002FEAA8BBC}"/>
              </a:ext>
            </a:extLst>
          </p:cNvPr>
          <p:cNvSpPr>
            <a:spLocks noGrp="1"/>
          </p:cNvSpPr>
          <p:nvPr/>
        </p:nvSpPr>
        <p:spPr>
          <a:xfrm>
            <a:off x="7953375" y="3874222"/>
            <a:ext cx="2000250" cy="1033272"/>
          </a:xfrm>
          <a:prstGeom prst="roundRect">
            <a:avLst>
              <a:gd name="adj" fmla="val 6957"/>
            </a:avLst>
          </a:prstGeom>
          <a:solidFill>
            <a:srgbClr val="0F141A"/>
          </a:solidFill>
          <a:ln w="19050">
            <a:solidFill>
              <a:srgbClr val="8C4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83719" y="4058097"/>
            <a:ext cx="641902" cy="64190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4348026-BBC4-42DD-A058-01B285213712}"/>
              </a:ext>
            </a:extLst>
          </p:cNvPr>
          <p:cNvSpPr>
            <a:spLocks noGrp="1"/>
          </p:cNvSpPr>
          <p:nvPr/>
        </p:nvSpPr>
        <p:spPr>
          <a:xfrm>
            <a:off x="8798094" y="4067622"/>
            <a:ext cx="1024518" cy="641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Kinesis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Data Streams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4F4A785-0C76-4FC6-BEF7-44A7FF1A3F05}"/>
              </a:ext>
            </a:extLst>
          </p:cNvPr>
          <p:cNvSpPr>
            <a:spLocks noGrp="1"/>
          </p:cNvSpPr>
          <p:nvPr/>
        </p:nvSpPr>
        <p:spPr>
          <a:xfrm>
            <a:off x="7948008" y="5159947"/>
            <a:ext cx="2002536" cy="1033272"/>
          </a:xfrm>
          <a:prstGeom prst="roundRect">
            <a:avLst>
              <a:gd name="adj" fmla="val 6957"/>
            </a:avLst>
          </a:prstGeom>
          <a:solidFill>
            <a:srgbClr val="0F141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07722" y="5350447"/>
            <a:ext cx="590550" cy="59055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DCF89CC-F273-424F-BBB2-83849226BEA9}"/>
              </a:ext>
            </a:extLst>
          </p:cNvPr>
          <p:cNvSpPr>
            <a:spLocks noGrp="1"/>
          </p:cNvSpPr>
          <p:nvPr/>
        </p:nvSpPr>
        <p:spPr>
          <a:xfrm>
            <a:off x="8803047" y="5293297"/>
            <a:ext cx="1143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lang="en-US" sz="975" b="1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Downstream consumer Lambda</a:t>
            </a:r>
            <a:endParaRPr sz="975" b="1" dirty="0">
              <a:solidFill>
                <a:srgbClr val="FFFFFF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3DD1E6-8225-EF6D-1E6F-93E086A510E7}"/>
              </a:ext>
            </a:extLst>
          </p:cNvPr>
          <p:cNvCxnSpPr/>
          <p:nvPr/>
        </p:nvCxnSpPr>
        <p:spPr>
          <a:xfrm>
            <a:off x="8950817" y="2164631"/>
            <a:ext cx="0" cy="2547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53DF32-C6C7-DF6A-BBE2-E4A299FF53B4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8953500" y="3470576"/>
            <a:ext cx="0" cy="40364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58C638-BF65-17B6-696F-B53654ADD1A9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flipH="1">
            <a:off x="8949276" y="4907494"/>
            <a:ext cx="4224" cy="2524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17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B8E496-0A51-4739-B515-07B9232C715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Projection code and payload trace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BEF4FA7-1764-47EE-9A0F-90C175ED53E1}"/>
              </a:ext>
            </a:extLst>
          </p:cNvPr>
          <p:cNvSpPr>
            <a:spLocks noGrp="1"/>
          </p:cNvSpPr>
          <p:nvPr/>
        </p:nvSpPr>
        <p:spPr>
          <a:xfrm>
            <a:off x="476250" y="1190625"/>
            <a:ext cx="5429250" cy="2667000"/>
          </a:xfrm>
          <a:prstGeom prst="roundRect">
            <a:avLst>
              <a:gd name="adj" fmla="val 2857"/>
            </a:avLst>
          </a:prstGeom>
          <a:solidFill>
            <a:srgbClr val="F5F6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E2398-23ED-4A06-B6B2-8D5B2F77BC51}"/>
              </a:ext>
            </a:extLst>
          </p:cNvPr>
          <p:cNvSpPr>
            <a:spLocks noGrp="1"/>
          </p:cNvSpPr>
          <p:nvPr/>
        </p:nvSpPr>
        <p:spPr>
          <a:xfrm>
            <a:off x="647700" y="1343025"/>
            <a:ext cx="50863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SELECT topic(3) AS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robot_id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,</a:t>
            </a:r>
          </a:p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  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current.version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AS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current.version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,</a:t>
            </a:r>
          </a:p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  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current.state.reported.sku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,</a:t>
            </a:r>
          </a:p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  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previous.state.reported.bin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,</a:t>
            </a:r>
          </a:p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   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current.state.reported.bin</a:t>
            </a:r>
            <a:endParaRPr sz="1400" b="0" dirty="0">
              <a:solidFill>
                <a:srgbClr val="111820"/>
              </a:solidFill>
              <a:latin typeface="Amazon Ember Mono"/>
              <a:ea typeface="Amazon Ember Mono"/>
              <a:cs typeface="Amazon Ember Mono"/>
            </a:endParaRPr>
          </a:p>
          <a:p>
            <a:pPr algn="l">
              <a:lnSpc>
                <a:spcPct val="95000"/>
              </a:lnSpc>
              <a:buNone/>
              <a:defRPr sz="1050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FROM '$</a:t>
            </a:r>
            <a:r>
              <a:rPr sz="1400" b="0" dirty="0" err="1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aws</a:t>
            </a:r>
            <a:r>
              <a:rPr sz="1400" b="0" dirty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/things/+/shadow/update/documents'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F9EA1-0CD4-47A5-8B67-C5FC8F315CEB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50863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59636E"/>
                </a:solidFill>
                <a:latin typeface="Amazon Ember Mono"/>
                <a:ea typeface="Amazon Ember Mono"/>
                <a:cs typeface="Amazon Ember Mono"/>
              </a:defRPr>
            </a:pPr>
            <a:endParaRPr sz="750" b="0" dirty="0">
              <a:solidFill>
                <a:srgbClr val="59636E"/>
              </a:solidFill>
              <a:latin typeface="Amazon Ember Mono"/>
              <a:ea typeface="Amazon Ember Mono"/>
              <a:cs typeface="Amazon Ember Mono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796E92-7776-4376-89E4-78F3E404814D}"/>
              </a:ext>
            </a:extLst>
          </p:cNvPr>
          <p:cNvSpPr>
            <a:spLocks noGrp="1"/>
          </p:cNvSpPr>
          <p:nvPr/>
        </p:nvSpPr>
        <p:spPr>
          <a:xfrm>
            <a:off x="6429375" y="1190625"/>
            <a:ext cx="5286375" cy="1809750"/>
          </a:xfrm>
          <a:prstGeom prst="roundRect">
            <a:avLst>
              <a:gd name="adj" fmla="val 4211"/>
            </a:avLst>
          </a:prstGeom>
          <a:solidFill>
            <a:srgbClr val="F5F6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09294-D51E-472F-8E94-642A1362B944}"/>
              </a:ext>
            </a:extLst>
          </p:cNvPr>
          <p:cNvSpPr>
            <a:spLocks noGrp="1"/>
          </p:cNvSpPr>
          <p:nvPr/>
        </p:nvSpPr>
        <p:spPr>
          <a:xfrm>
            <a:off x="6600825" y="1343025"/>
            <a:ext cx="494347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if reported_changed(old, new):</a:t>
            </a:r>
          </a:p>
          <a:p>
            <a:pPr algn="l">
              <a:lnSpc>
                <a:spcPct val="95000"/>
              </a:lnSpc>
              <a:buNone/>
              <a:def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for check in checks_per_shadow[shadow_name]:</a:t>
            </a:r>
          </a:p>
          <a:p>
            <a:pPr algn="l">
              <a:lnSpc>
                <a:spcPct val="95000"/>
              </a:lnSpc>
              <a:buNone/>
              <a:def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125" b="0">
                <a:solidFill>
                  <a:srgbClr val="111820"/>
                </a:solidFill>
                <a:latin typeface="Amazon Ember Mono"/>
                <a:ea typeface="Amazon Ember Mono"/>
                <a:cs typeface="Amazon Ember Mono"/>
              </a:rPr>
              <a:t>        check(robot_id, old, new, ...)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2E346A-ADC5-4C1A-A023-A959CA71A05D}"/>
              </a:ext>
            </a:extLst>
          </p:cNvPr>
          <p:cNvSpPr>
            <a:spLocks noGrp="1"/>
          </p:cNvSpPr>
          <p:nvPr/>
        </p:nvSpPr>
        <p:spPr>
          <a:xfrm>
            <a:off x="6600825" y="2752725"/>
            <a:ext cx="49434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>
                <a:solidFill>
                  <a:srgbClr val="59636E"/>
                </a:solidFill>
                <a:latin typeface="Amazon Ember Mono"/>
                <a:ea typeface="Amazon Ember Mono"/>
                <a:cs typeface="Amazon Ember Mono"/>
              </a:defRPr>
            </a:pPr>
            <a:endParaRPr sz="750" b="0" dirty="0">
              <a:solidFill>
                <a:srgbClr val="59636E"/>
              </a:solidFill>
              <a:latin typeface="Amazon Ember Mono"/>
              <a:ea typeface="Amazon Ember Mono"/>
              <a:cs typeface="Amazon Ember Mono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2E71E3-D0BD-48E4-A8E7-AB74E9AC83C5}"/>
              </a:ext>
            </a:extLst>
          </p:cNvPr>
          <p:cNvSpPr>
            <a:spLocks noGrp="1"/>
          </p:cNvSpPr>
          <p:nvPr/>
        </p:nvSpPr>
        <p:spPr>
          <a:xfrm>
            <a:off x="714375" y="4457700"/>
            <a:ext cx="114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5A67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2250" b="1">
                <a:solidFill>
                  <a:srgbClr val="FF5A67"/>
                </a:solidFill>
                <a:latin typeface="Amazon Ember Mono"/>
                <a:ea typeface="Amazon Ember Mono"/>
                <a:cs typeface="Amazon Ember Mono"/>
              </a:rPr>
              <a:t>16 KB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B19002-F2FB-42AF-8422-013A9715DE5D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952500" cy="666750"/>
          </a:xfrm>
          <a:prstGeom prst="rect">
            <a:avLst/>
          </a:prstGeom>
          <a:solidFill>
            <a:srgbClr val="A52C43"/>
          </a:solidFill>
          <a:ln w="9525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21B0F3-0440-47C4-BC5F-B09649EA0B3A}"/>
              </a:ext>
            </a:extLst>
          </p:cNvPr>
          <p:cNvSpPr>
            <a:spLocks noGrp="1"/>
          </p:cNvSpPr>
          <p:nvPr/>
        </p:nvSpPr>
        <p:spPr>
          <a:xfrm>
            <a:off x="2809875" y="4333875"/>
            <a:ext cx="952500" cy="666750"/>
          </a:xfrm>
          <a:prstGeom prst="rect">
            <a:avLst/>
          </a:prstGeom>
          <a:solidFill>
            <a:srgbClr val="7D2334"/>
          </a:solidFill>
          <a:ln w="9525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08352-37E9-4AFD-9B4C-B0CC5A0C2294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952500" cy="666750"/>
          </a:xfrm>
          <a:prstGeom prst="rect">
            <a:avLst/>
          </a:prstGeom>
          <a:solidFill>
            <a:srgbClr val="A52C43"/>
          </a:solidFill>
          <a:ln w="9525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448F2-ED98-459E-A7A7-EEAC6B492D46}"/>
              </a:ext>
            </a:extLst>
          </p:cNvPr>
          <p:cNvSpPr>
            <a:spLocks noGrp="1"/>
          </p:cNvSpPr>
          <p:nvPr/>
        </p:nvSpPr>
        <p:spPr>
          <a:xfrm>
            <a:off x="5000625" y="4333875"/>
            <a:ext cx="952500" cy="666750"/>
          </a:xfrm>
          <a:prstGeom prst="rect">
            <a:avLst/>
          </a:prstGeom>
          <a:solidFill>
            <a:srgbClr val="7D2334"/>
          </a:solidFill>
          <a:ln w="9525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4373F5-1176-4BCB-B452-C94E2107B031}"/>
              </a:ext>
            </a:extLst>
          </p:cNvPr>
          <p:cNvSpPr>
            <a:spLocks noGrp="1"/>
          </p:cNvSpPr>
          <p:nvPr/>
        </p:nvSpPr>
        <p:spPr>
          <a:xfrm>
            <a:off x="6334125" y="4457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9900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500" b="1">
                <a:solidFill>
                  <a:srgbClr val="FF9900"/>
                </a:solidFill>
                <a:latin typeface="Amazon Ember Display"/>
                <a:ea typeface="Amazon Ember Display"/>
                <a:cs typeface="Amazon Ember Display"/>
              </a:rPr>
              <a:t>SQL projection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DE77B2-25BA-464D-B6ED-CA0044B3957B}"/>
              </a:ext>
            </a:extLst>
          </p:cNvPr>
          <p:cNvSpPr>
            <a:spLocks noGrp="1"/>
          </p:cNvSpPr>
          <p:nvPr/>
        </p:nvSpPr>
        <p:spPr>
          <a:xfrm>
            <a:off x="8477250" y="4333875"/>
            <a:ext cx="1047750" cy="666750"/>
          </a:xfrm>
          <a:prstGeom prst="roundRect">
            <a:avLst>
              <a:gd name="adj" fmla="val 11429"/>
            </a:avLst>
          </a:prstGeom>
          <a:solidFill>
            <a:srgbClr val="39D98A"/>
          </a:solidFill>
          <a:ln w="9525">
            <a:solidFill>
              <a:srgbClr val="39D98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161D26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1500" b="1">
                <a:solidFill>
                  <a:srgbClr val="161D26"/>
                </a:solidFill>
                <a:latin typeface="Amazon Ember Mono"/>
                <a:ea typeface="Amazon Ember Mono"/>
                <a:cs typeface="Amazon Ember Mono"/>
              </a:rPr>
              <a:t>1.3 KB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3B4B2E-7BF3-4D5E-8BFF-DAA0A8A2F2F4}"/>
              </a:ext>
            </a:extLst>
          </p:cNvPr>
          <p:cNvSpPr>
            <a:spLocks noGrp="1"/>
          </p:cNvSpPr>
          <p:nvPr/>
        </p:nvSpPr>
        <p:spPr>
          <a:xfrm>
            <a:off x="10096500" y="4295775"/>
            <a:ext cx="1524000" cy="742950"/>
          </a:xfrm>
          <a:prstGeom prst="roundRect">
            <a:avLst>
              <a:gd name="adj" fmla="val 10256"/>
            </a:avLst>
          </a:prstGeom>
          <a:solidFill>
            <a:srgbClr val="0F141A"/>
          </a:solidFill>
          <a:ln w="1905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3DE45-2E13-4F01-9E7D-AA9C696FA62E}"/>
              </a:ext>
            </a:extLst>
          </p:cNvPr>
          <p:cNvSpPr>
            <a:spLocks noGrp="1"/>
          </p:cNvSpPr>
          <p:nvPr/>
        </p:nvSpPr>
        <p:spPr>
          <a:xfrm>
            <a:off x="10191750" y="4429125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Bin check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6B360-1880-46FB-9D71-AE76F93B5AAC}"/>
              </a:ext>
            </a:extLst>
          </p:cNvPr>
          <p:cNvSpPr>
            <a:spLocks noGrp="1"/>
          </p:cNvSpPr>
          <p:nvPr/>
        </p:nvSpPr>
        <p:spPr>
          <a:xfrm>
            <a:off x="10191750" y="47625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same result</a:t>
            </a:r>
          </a:p>
        </p:txBody>
      </p:sp>
      <p:cxnSp>
        <p:nvCxnSpPr>
          <p:cNvPr id="59" name="Straight Arrow Connector 58"/>
          <p:cNvCxnSpPr>
            <a:stCxn id="12" idx="3"/>
            <a:endCxn id="14" idx="1"/>
          </p:cNvCxnSpPr>
          <p:nvPr/>
        </p:nvCxnSpPr>
        <p:spPr>
          <a:xfrm>
            <a:off x="5953125" y="4667250"/>
            <a:ext cx="2524125" cy="0"/>
          </a:xfrm>
          <a:prstGeom prst="straightConnector1">
            <a:avLst/>
          </a:prstGeom>
          <a:ln w="23813">
            <a:solidFill>
              <a:srgbClr val="FF9900"/>
            </a:solidFill>
            <a:prstDash val="solid"/>
            <a:tailEnd type="triangle" w="sm" len="sm"/>
          </a:ln>
        </p:spPr>
      </p:cxnSp>
      <p:cxnSp>
        <p:nvCxnSpPr>
          <p:cNvPr id="60" name="Straight Arrow Connector 59"/>
          <p:cNvCxnSpPr>
            <a:stCxn id="14" idx="3"/>
            <a:endCxn id="15" idx="1"/>
          </p:cNvCxnSpPr>
          <p:nvPr/>
        </p:nvCxnSpPr>
        <p:spPr>
          <a:xfrm>
            <a:off x="9525000" y="4667250"/>
            <a:ext cx="571500" cy="0"/>
          </a:xfrm>
          <a:prstGeom prst="straightConnector1">
            <a:avLst/>
          </a:prstGeom>
          <a:ln w="23813">
            <a:solidFill>
              <a:srgbClr val="39D98A"/>
            </a:solidFill>
            <a:prstDash val="solid"/>
            <a:tailEnd type="triangle" w="sm" len="sm"/>
          </a:ln>
        </p:spPr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706F8E8-E8D6-4449-A4A8-CEC09D4ECE69}"/>
              </a:ext>
            </a:extLst>
          </p:cNvPr>
          <p:cNvSpPr>
            <a:spLocks noGrp="1"/>
          </p:cNvSpPr>
          <p:nvPr/>
        </p:nvSpPr>
        <p:spPr>
          <a:xfrm>
            <a:off x="3905250" y="542925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FF5A67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75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new field omitted → contract failure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672832E-B92F-4C59-92B5-4160BF1D4292}"/>
              </a:ext>
            </a:extLst>
          </p:cNvPr>
          <p:cNvSpPr>
            <a:spLocks noGrp="1"/>
          </p:cNvSpPr>
          <p:nvPr/>
        </p:nvSpPr>
        <p:spPr>
          <a:xfrm>
            <a:off x="6810375" y="5429250"/>
            <a:ext cx="2381250" cy="285750"/>
          </a:xfrm>
          <a:prstGeom prst="roundRect">
            <a:avLst>
              <a:gd name="adj" fmla="val 50000"/>
            </a:avLst>
          </a:prstGeom>
          <a:solidFill>
            <a:srgbClr val="39D98A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975" b="1">
                <a:solidFill>
                  <a:srgbClr val="161D26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75" b="1">
                <a:solidFill>
                  <a:srgbClr val="161D26"/>
                </a:solidFill>
                <a:latin typeface="Amazon Ember Display"/>
                <a:ea typeface="Amazon Ember Display"/>
                <a:cs typeface="Amazon Ember Display"/>
              </a:rPr>
              <a:t>projection v2 → field restored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ADE908-699E-453F-BDE6-FF017C662606}"/>
              </a:ext>
            </a:extLst>
          </p:cNvPr>
          <p:cNvSpPr>
            <a:spLocks noGrp="1"/>
          </p:cNvSpPr>
          <p:nvPr/>
        </p:nvSpPr>
        <p:spPr>
          <a:xfrm>
            <a:off x="476250" y="6257925"/>
            <a:ext cx="1104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675" b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rPr>
              <a:t>Payload sizes are documented source values; current rule action writes the projection to Kinesis</a:t>
            </a:r>
          </a:p>
        </p:txBody>
      </p:sp>
    </p:spTree>
    <p:extLst>
      <p:ext uri="{BB962C8B-B14F-4D97-AF65-F5344CB8AC3E}">
        <p14:creationId xmlns:p14="http://schemas.microsoft.com/office/powerpoint/2010/main" val="1561602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4CBC-B39A-9B6B-241C-77011F39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2CDE978-984F-D9BA-30FB-5D9BE9D2F9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rule selects fields before Kinesis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84DD9-C924-5333-2E6F-9267AF965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6"/>
            <a:ext cx="6396066" cy="13033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The transformation is a field selection in CloudFormation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ea typeface="Amazon Ember Display"/>
                <a:cs typeface="Amazon Ember Display"/>
              </a:rPr>
              <a:t>Kinesis and downstream consumers receive the smaller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Simple projection needs no additional Lambda invocation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B321896-E935-48EE-DE2B-26424D3322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56" y="3004268"/>
            <a:ext cx="6396066" cy="424732"/>
          </a:xfrm>
        </p:spPr>
        <p:txBody>
          <a:bodyPr>
            <a:normAutofit/>
          </a:bodyPr>
          <a:lstStyle/>
          <a:p>
            <a:r>
              <a:rPr lang="en-US" dirty="0"/>
              <a:t>When does implementing a Lambda become useful?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CEB27-8163-EAEE-11D9-B67B63499F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lookups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enrichment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Logic beyond the IoT SQL contract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B2E7D2-8571-DFF5-D070-9591FF0C3B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The cost is contract ownership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324476-D57E-E3A8-A4AB-B479963646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2345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retain previous and current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 new consumer fields to the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the projected event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B5D8CF3-1984-2045-E2B2-EBE020CB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106576"/>
            <a:ext cx="3753436" cy="3687845"/>
          </a:xfrm>
        </p:spPr>
        <p:txBody>
          <a:bodyPr>
            <a:normAutofit/>
          </a:bodyPr>
          <a:lstStyle/>
          <a:p>
            <a:r>
              <a:rPr lang="en-US" dirty="0"/>
              <a:t>Why projection happens in IoT SQL</a:t>
            </a:r>
          </a:p>
        </p:txBody>
      </p:sp>
    </p:spTree>
    <p:extLst>
      <p:ext uri="{BB962C8B-B14F-4D97-AF65-F5344CB8AC3E}">
        <p14:creationId xmlns:p14="http://schemas.microsoft.com/office/powerpoint/2010/main" val="128935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0F41-68A9-ABFF-39CA-E66DF849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277960-0F1D-9C4C-8495-00260C956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2: Boundary Projection -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739C9-19D5-4D68-CF8F-EA03C8BC0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" r="167"/>
          <a:stretch/>
        </p:blipFill>
        <p:spPr>
          <a:xfrm>
            <a:off x="6102526" y="2318386"/>
            <a:ext cx="5907807" cy="2226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054FA-C1CA-1EAF-8334-AE976EEFF3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4821" y="2331601"/>
            <a:ext cx="5821498" cy="219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54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29C4-59D2-DD76-62F0-9280810D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745323-6D8A-FCF3-EADF-4D99F0F779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Payload reduction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C65B3-5AEA-634D-14B9-B1AEAA8FAB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5"/>
            <a:ext cx="6396066" cy="118970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documented complete shadow exceeded 15 KB, </a:t>
            </a:r>
            <a:r>
              <a:rPr lang="en-US" dirty="0" err="1"/>
              <a:t>equalling</a:t>
            </a:r>
            <a:r>
              <a:rPr lang="en-US" dirty="0"/>
              <a:t> four 5 KB MQTT messaging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projected payload was approximately 1.3 KB, fitting within one unit on that messaging leg.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8B50B-029D-CB93-123C-1D051EBC26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Business behavior and ownership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5FE1D-8E04-D8BC-C66D-C7B8021F0C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projection retains the robot ID and previous and current values required by downstream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IoT SQL statement becomes a shared contract that teams must document, version and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A0FCB8-95EF-3333-9CE1-5660E33F9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Worst case: contract drift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69C13-3C2F-FE7D-F444-C7E337B2F9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1897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consumer requires a field that was not added to the projection and cannot complete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failure remains visible until the projection is updated and the missing field is restored.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FD4D25-95E5-706B-A331-7023EC6BA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2:</a:t>
            </a:r>
            <a:br>
              <a:rPr lang="en-US" dirty="0"/>
            </a:br>
            <a:r>
              <a:rPr lang="en-US" dirty="0"/>
              <a:t>Boundary Projection</a:t>
            </a:r>
          </a:p>
        </p:txBody>
      </p:sp>
    </p:spTree>
    <p:extLst>
      <p:ext uri="{BB962C8B-B14F-4D97-AF65-F5344CB8AC3E}">
        <p14:creationId xmlns:p14="http://schemas.microsoft.com/office/powerpoint/2010/main" val="2117119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3275-A6AD-8882-D621-6024F17F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C666-EBD9-67EB-A14C-3E58DAB0D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3: Classic vs Named Shadows</a:t>
            </a:r>
          </a:p>
        </p:txBody>
      </p:sp>
    </p:spTree>
    <p:extLst>
      <p:ext uri="{BB962C8B-B14F-4D97-AF65-F5344CB8AC3E}">
        <p14:creationId xmlns:p14="http://schemas.microsoft.com/office/powerpoint/2010/main" val="584512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42B5-4F6C-FBA5-B44B-B16C2F4E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46A3FD6-3CC0-09A3-7589-10E8BFDD7E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The client </a:t>
            </a:r>
            <a:r>
              <a:rPr lang="en-US" b="1" i="1" dirty="0"/>
              <a:t>really</a:t>
            </a:r>
            <a:r>
              <a:rPr lang="en-US" dirty="0"/>
              <a:t> wanted to migrate to named shadows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FAAA3-6622-3671-4865-44BBF30B71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6"/>
            <a:ext cx="6396066" cy="13033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setup – one IoT thing had classic shadow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wanted to organize shadow data into multiple named shadows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were also willing to adapt their codebase and let us handle the migration process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AD23404-9C8D-ABF7-4297-7D1141ABDE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56" y="3004268"/>
            <a:ext cx="6396066" cy="424732"/>
          </a:xfrm>
        </p:spPr>
        <p:txBody>
          <a:bodyPr/>
          <a:lstStyle/>
          <a:p>
            <a:r>
              <a:rPr lang="en-US" dirty="0"/>
              <a:t>The question before the migration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C43D0-4A8C-0D3F-B7CE-5657D37C83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Would smaller records justify the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cases, extra calls and operational complexity can outweigh the savings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B728A8-A937-2F99-2B6D-FD1E0821C0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A60B6F-2798-5E74-4F7C-79EBACFF9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2345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proposed a benchmark: replay most common operations against their data and both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Comparing one single classic shadow to 10 named shadow partitions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300 logical actions per architecture: 48% writes and 52% reads.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65FBF26-6845-159F-53FF-8B693390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1106576"/>
            <a:ext cx="3753436" cy="3687845"/>
          </a:xfrm>
        </p:spPr>
        <p:txBody>
          <a:bodyPr>
            <a:normAutofit/>
          </a:bodyPr>
          <a:lstStyle/>
          <a:p>
            <a:r>
              <a:rPr lang="en-US" dirty="0"/>
              <a:t>Are named shadows necessary?</a:t>
            </a:r>
          </a:p>
        </p:txBody>
      </p:sp>
    </p:spTree>
    <p:extLst>
      <p:ext uri="{BB962C8B-B14F-4D97-AF65-F5344CB8AC3E}">
        <p14:creationId xmlns:p14="http://schemas.microsoft.com/office/powerpoint/2010/main" val="414248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4978A9F-845A-474D-BCC2-7EBCA2D88473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5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Named shadows change the unit economics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45AC07-D454-409A-82FC-D7A08B6A6888}"/>
              </a:ext>
            </a:extLst>
          </p:cNvPr>
          <p:cNvSpPr>
            <a:spLocks noGrp="1"/>
          </p:cNvSpPr>
          <p:nvPr/>
        </p:nvSpPr>
        <p:spPr>
          <a:xfrm>
            <a:off x="571500" y="1238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F5A67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1">
                <a:solidFill>
                  <a:srgbClr val="FF5A67"/>
                </a:solidFill>
                <a:latin typeface="Amazon Ember Display"/>
                <a:ea typeface="Amazon Ember Display"/>
                <a:cs typeface="Amazon Ember Display"/>
              </a:rPr>
              <a:t>ILLUSTRATIVE • ONE CLASSIC RECORD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8FA09F-1D0C-487D-B953-70C285C13043}"/>
              </a:ext>
            </a:extLst>
          </p:cNvPr>
          <p:cNvSpPr>
            <a:spLocks noGrp="1"/>
          </p:cNvSpPr>
          <p:nvPr/>
        </p:nvSpPr>
        <p:spPr>
          <a:xfrm>
            <a:off x="523875" y="185737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F141A"/>
          </a:solidFill>
          <a:ln w="19050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6C943-AB00-491E-B92B-4DFFF67E6DDC}"/>
              </a:ext>
            </a:extLst>
          </p:cNvPr>
          <p:cNvSpPr>
            <a:spLocks noGrp="1"/>
          </p:cNvSpPr>
          <p:nvPr/>
        </p:nvSpPr>
        <p:spPr>
          <a:xfrm>
            <a:off x="619125" y="1990725"/>
            <a:ext cx="1190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State change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BAC48E-95D0-491A-86C6-09D22E80AFEE}"/>
              </a:ext>
            </a:extLst>
          </p:cNvPr>
          <p:cNvSpPr>
            <a:spLocks noGrp="1"/>
          </p:cNvSpPr>
          <p:nvPr/>
        </p:nvSpPr>
        <p:spPr>
          <a:xfrm>
            <a:off x="2381250" y="185737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F141A"/>
          </a:solidFill>
          <a:ln w="19050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9A1AA-34D9-4AB7-A3BE-2CD4B7E86A58}"/>
              </a:ext>
            </a:extLst>
          </p:cNvPr>
          <p:cNvSpPr>
            <a:spLocks noGrp="1"/>
          </p:cNvSpPr>
          <p:nvPr/>
        </p:nvSpPr>
        <p:spPr>
          <a:xfrm>
            <a:off x="2476500" y="1990725"/>
            <a:ext cx="1190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Classic shadow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E39F5C-D061-430B-8977-9C79630B8E64}"/>
              </a:ext>
            </a:extLst>
          </p:cNvPr>
          <p:cNvSpPr>
            <a:spLocks noGrp="1"/>
          </p:cNvSpPr>
          <p:nvPr/>
        </p:nvSpPr>
        <p:spPr>
          <a:xfrm>
            <a:off x="2476500" y="2324100"/>
            <a:ext cx="1190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6 KB record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FE601A-28C1-402A-99CE-DED558290A95}"/>
              </a:ext>
            </a:extLst>
          </p:cNvPr>
          <p:cNvSpPr>
            <a:spLocks noGrp="1"/>
          </p:cNvSpPr>
          <p:nvPr/>
        </p:nvSpPr>
        <p:spPr>
          <a:xfrm>
            <a:off x="4238625" y="1857375"/>
            <a:ext cx="1381125" cy="723900"/>
          </a:xfrm>
          <a:prstGeom prst="roundRect">
            <a:avLst>
              <a:gd name="adj" fmla="val 10526"/>
            </a:avLst>
          </a:prstGeom>
          <a:solidFill>
            <a:srgbClr val="0F141A"/>
          </a:solidFill>
          <a:ln w="19050">
            <a:solidFill>
              <a:srgbClr val="5260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4EEDE0-CFE1-4504-94CD-53D6B59FC9BC}"/>
              </a:ext>
            </a:extLst>
          </p:cNvPr>
          <p:cNvSpPr>
            <a:spLocks noGrp="1"/>
          </p:cNvSpPr>
          <p:nvPr/>
        </p:nvSpPr>
        <p:spPr>
          <a:xfrm>
            <a:off x="4333875" y="1990725"/>
            <a:ext cx="1190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One update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0BA945-BD8F-4AE6-B6CB-8A833CFD076F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0F141A"/>
          </a:solidFill>
          <a:ln w="19050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D68AFD-71C2-4628-891D-128F9BF0436E}"/>
              </a:ext>
            </a:extLst>
          </p:cNvPr>
          <p:cNvSpPr>
            <a:spLocks noGrp="1"/>
          </p:cNvSpPr>
          <p:nvPr/>
        </p:nvSpPr>
        <p:spPr>
          <a:xfrm>
            <a:off x="6191250" y="19907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IoT 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1443E-E3FA-47D5-9BEE-316F0197E1BA}"/>
              </a:ext>
            </a:extLst>
          </p:cNvPr>
          <p:cNvSpPr>
            <a:spLocks noGrp="1"/>
          </p:cNvSpPr>
          <p:nvPr/>
        </p:nvSpPr>
        <p:spPr>
          <a:xfrm>
            <a:off x="6191250" y="23241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6 metered units</a:t>
            </a:r>
          </a:p>
        </p:txBody>
      </p:sp>
      <p:cxnSp>
        <p:nvCxnSpPr>
          <p:cNvPr id="224" name="Straight Arrow Connector 223"/>
          <p:cNvCxnSpPr>
            <a:stCxn id="3" idx="3"/>
            <a:endCxn id="5" idx="1"/>
          </p:cNvCxnSpPr>
          <p:nvPr/>
        </p:nvCxnSpPr>
        <p:spPr>
          <a:xfrm>
            <a:off x="1905000" y="2219325"/>
            <a:ext cx="476250" cy="0"/>
          </a:xfrm>
          <a:prstGeom prst="straightConnector1">
            <a:avLst/>
          </a:prstGeom>
          <a:ln w="23813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225" name="Straight Arrow Connector 224"/>
          <p:cNvCxnSpPr>
            <a:stCxn id="5" idx="3"/>
            <a:endCxn id="8" idx="1"/>
          </p:cNvCxnSpPr>
          <p:nvPr/>
        </p:nvCxnSpPr>
        <p:spPr>
          <a:xfrm>
            <a:off x="3762375" y="2219325"/>
            <a:ext cx="476250" cy="0"/>
          </a:xfrm>
          <a:prstGeom prst="straightConnector1">
            <a:avLst/>
          </a:prstGeom>
          <a:ln w="23813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226" name="Straight Arrow Connector 225"/>
          <p:cNvCxnSpPr>
            <a:stCxn id="8" idx="3"/>
            <a:endCxn id="10" idx="1"/>
          </p:cNvCxnSpPr>
          <p:nvPr/>
        </p:nvCxnSpPr>
        <p:spPr>
          <a:xfrm>
            <a:off x="5619750" y="2219325"/>
            <a:ext cx="476250" cy="0"/>
          </a:xfrm>
          <a:prstGeom prst="straightConnector1">
            <a:avLst/>
          </a:prstGeom>
          <a:ln w="23813">
            <a:solidFill>
              <a:srgbClr val="FF5A67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0CC8984-57DE-43D3-AFC6-8D9D27A84C8A}"/>
              </a:ext>
            </a:extLst>
          </p:cNvPr>
          <p:cNvSpPr>
            <a:spLocks noGrp="1"/>
          </p:cNvSpPr>
          <p:nvPr/>
        </p:nvSpPr>
        <p:spPr>
          <a:xfrm>
            <a:off x="476250" y="3048000"/>
            <a:ext cx="11096625" cy="19050"/>
          </a:xfrm>
          <a:prstGeom prst="rect">
            <a:avLst/>
          </a:prstGeom>
          <a:solidFill>
            <a:srgbClr val="C925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47D5E1-B2A4-4ED3-A5B2-422908F7DB53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C925D1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1">
                <a:solidFill>
                  <a:srgbClr val="C925D1"/>
                </a:solidFill>
                <a:latin typeface="Amazon Ember Display"/>
                <a:ea typeface="Amazon Ember Display"/>
                <a:cs typeface="Amazon Ember Display"/>
              </a:rPr>
              <a:t>PARTITIONED BY CHANGE PATTERN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901D5CC-D05B-491F-A7FB-F3FC72D8B252}"/>
              </a:ext>
            </a:extLst>
          </p:cNvPr>
          <p:cNvSpPr>
            <a:spLocks noGrp="1"/>
          </p:cNvSpPr>
          <p:nvPr/>
        </p:nvSpPr>
        <p:spPr>
          <a:xfrm>
            <a:off x="523875" y="4000500"/>
            <a:ext cx="1619250" cy="838200"/>
          </a:xfrm>
          <a:prstGeom prst="roundRect">
            <a:avLst>
              <a:gd name="adj" fmla="val 9091"/>
            </a:avLst>
          </a:prstGeom>
          <a:solidFill>
            <a:srgbClr val="0F141A"/>
          </a:solidFill>
          <a:ln w="19050">
            <a:solidFill>
              <a:srgbClr val="C92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5ED98F-168F-41BF-8E7E-3D0990EB017C}"/>
              </a:ext>
            </a:extLst>
          </p:cNvPr>
          <p:cNvSpPr>
            <a:spLocks noGrp="1"/>
          </p:cNvSpPr>
          <p:nvPr/>
        </p:nvSpPr>
        <p:spPr>
          <a:xfrm>
            <a:off x="619125" y="41338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Same change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1624C3-4F4E-48C9-890A-0D8C3E3E0F8F}"/>
              </a:ext>
            </a:extLst>
          </p:cNvPr>
          <p:cNvSpPr>
            <a:spLocks noGrp="1"/>
          </p:cNvSpPr>
          <p:nvPr/>
        </p:nvSpPr>
        <p:spPr>
          <a:xfrm>
            <a:off x="619125" y="44672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one hot field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6060FE6-DFE6-49A2-816A-88A00BDCE8F7}"/>
              </a:ext>
            </a:extLst>
          </p:cNvPr>
          <p:cNvSpPr>
            <a:spLocks noGrp="1"/>
          </p:cNvSpPr>
          <p:nvPr/>
        </p:nvSpPr>
        <p:spPr>
          <a:xfrm>
            <a:off x="2714625" y="4000500"/>
            <a:ext cx="1952625" cy="838200"/>
          </a:xfrm>
          <a:prstGeom prst="roundRect">
            <a:avLst>
              <a:gd name="adj" fmla="val 9091"/>
            </a:avLst>
          </a:prstGeom>
          <a:solidFill>
            <a:srgbClr val="0F141A"/>
          </a:solidFill>
          <a:ln w="19050">
            <a:solidFill>
              <a:srgbClr val="C92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C21828-71D2-4088-9694-F01C725ED09C}"/>
              </a:ext>
            </a:extLst>
          </p:cNvPr>
          <p:cNvSpPr>
            <a:spLocks noGrp="1"/>
          </p:cNvSpPr>
          <p:nvPr/>
        </p:nvSpPr>
        <p:spPr>
          <a:xfrm>
            <a:off x="2809875" y="4133850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SDK routes field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80000B-7884-4EFD-B4A3-8489B344FC8F}"/>
              </a:ext>
            </a:extLst>
          </p:cNvPr>
          <p:cNvSpPr>
            <a:spLocks noGrp="1"/>
          </p:cNvSpPr>
          <p:nvPr/>
        </p:nvSpPr>
        <p:spPr>
          <a:xfrm>
            <a:off x="2809875" y="4467225"/>
            <a:ext cx="1762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cap.ns + schema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59D671-1A6C-4BD7-8F30-684569F39075}"/>
              </a:ext>
            </a:extLst>
          </p:cNvPr>
          <p:cNvSpPr>
            <a:spLocks noGrp="1"/>
          </p:cNvSpPr>
          <p:nvPr/>
        </p:nvSpPr>
        <p:spPr>
          <a:xfrm>
            <a:off x="5238750" y="4000500"/>
            <a:ext cx="1714500" cy="838200"/>
          </a:xfrm>
          <a:prstGeom prst="roundRect">
            <a:avLst>
              <a:gd name="adj" fmla="val 9091"/>
            </a:avLst>
          </a:prstGeom>
          <a:solidFill>
            <a:srgbClr val="0F141A"/>
          </a:solidFill>
          <a:ln w="19050">
            <a:solidFill>
              <a:srgbClr val="8C4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5137FA-CE97-42AA-B588-7BC138CEF6BE}"/>
              </a:ext>
            </a:extLst>
          </p:cNvPr>
          <p:cNvSpPr>
            <a:spLocks noGrp="1"/>
          </p:cNvSpPr>
          <p:nvPr/>
        </p:nvSpPr>
        <p:spPr>
          <a:xfrm>
            <a:off x="5334000" y="41338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State shadow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0298F8-B75C-4D6D-BE61-9E9E62BAB5C6}"/>
              </a:ext>
            </a:extLst>
          </p:cNvPr>
          <p:cNvSpPr>
            <a:spLocks noGrp="1"/>
          </p:cNvSpPr>
          <p:nvPr/>
        </p:nvSpPr>
        <p:spPr>
          <a:xfrm>
            <a:off x="5334000" y="44672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2 KB record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04362FA-9AE8-4ACC-BC0D-273F01E5EF94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1762125" cy="838200"/>
          </a:xfrm>
          <a:prstGeom prst="roundRect">
            <a:avLst>
              <a:gd name="adj" fmla="val 9091"/>
            </a:avLst>
          </a:prstGeom>
          <a:solidFill>
            <a:srgbClr val="0F141A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F6152-365A-4ED3-8664-BC7908458BBA}"/>
              </a:ext>
            </a:extLst>
          </p:cNvPr>
          <p:cNvSpPr>
            <a:spLocks noGrp="1"/>
          </p:cNvSpPr>
          <p:nvPr/>
        </p:nvSpPr>
        <p:spPr>
          <a:xfrm>
            <a:off x="7620000" y="41338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IoT Core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7F6837-765B-47A1-BADE-F4EB4BCD342C}"/>
              </a:ext>
            </a:extLst>
          </p:cNvPr>
          <p:cNvSpPr>
            <a:spLocks noGrp="1"/>
          </p:cNvSpPr>
          <p:nvPr/>
        </p:nvSpPr>
        <p:spPr>
          <a:xfrm>
            <a:off x="7620000" y="44672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one update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C47BDE1-A4D4-4097-969C-5CC55A76C765}"/>
              </a:ext>
            </a:extLst>
          </p:cNvPr>
          <p:cNvSpPr>
            <a:spLocks noGrp="1"/>
          </p:cNvSpPr>
          <p:nvPr/>
        </p:nvSpPr>
        <p:spPr>
          <a:xfrm>
            <a:off x="9858375" y="4000500"/>
            <a:ext cx="1619250" cy="838200"/>
          </a:xfrm>
          <a:prstGeom prst="roundRect">
            <a:avLst>
              <a:gd name="adj" fmla="val 9091"/>
            </a:avLst>
          </a:prstGeom>
          <a:solidFill>
            <a:srgbClr val="0F141A"/>
          </a:solidFill>
          <a:ln w="1905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6179FD-F703-4407-920E-D45767C910CB}"/>
              </a:ext>
            </a:extLst>
          </p:cNvPr>
          <p:cNvSpPr>
            <a:spLocks noGrp="1"/>
          </p:cNvSpPr>
          <p:nvPr/>
        </p:nvSpPr>
        <p:spPr>
          <a:xfrm>
            <a:off x="9953625" y="4133850"/>
            <a:ext cx="1428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2 metered units</a:t>
            </a:r>
          </a:p>
        </p:txBody>
      </p:sp>
      <p:cxnSp>
        <p:nvCxnSpPr>
          <p:cNvPr id="243" name="Straight Arrow Connector 242"/>
          <p:cNvCxnSpPr>
            <a:stCxn id="18" idx="3"/>
            <a:endCxn id="21" idx="1"/>
          </p:cNvCxnSpPr>
          <p:nvPr/>
        </p:nvCxnSpPr>
        <p:spPr>
          <a:xfrm>
            <a:off x="2143125" y="4419600"/>
            <a:ext cx="571500" cy="0"/>
          </a:xfrm>
          <a:prstGeom prst="straightConnector1">
            <a:avLst/>
          </a:prstGeom>
          <a:ln w="23813">
            <a:solidFill>
              <a:srgbClr val="C925D1"/>
            </a:solidFill>
            <a:prstDash val="solid"/>
            <a:tailEnd type="triangle" w="sm" len="sm"/>
          </a:ln>
        </p:spPr>
      </p:cxnSp>
      <p:cxnSp>
        <p:nvCxnSpPr>
          <p:cNvPr id="244" name="Straight Arrow Connector 243"/>
          <p:cNvCxnSpPr>
            <a:stCxn id="21" idx="3"/>
            <a:endCxn id="24" idx="1"/>
          </p:cNvCxnSpPr>
          <p:nvPr/>
        </p:nvCxnSpPr>
        <p:spPr>
          <a:xfrm>
            <a:off x="4667250" y="4419600"/>
            <a:ext cx="571500" cy="0"/>
          </a:xfrm>
          <a:prstGeom prst="straightConnector1">
            <a:avLst/>
          </a:prstGeom>
          <a:ln w="23813">
            <a:solidFill>
              <a:srgbClr val="C925D1"/>
            </a:solidFill>
            <a:prstDash val="solid"/>
            <a:tailEnd type="triangle" w="sm" len="sm"/>
          </a:ln>
        </p:spPr>
      </p:cxnSp>
      <p:cxnSp>
        <p:nvCxnSpPr>
          <p:cNvPr id="245" name="Straight Arrow Connector 244"/>
          <p:cNvCxnSpPr>
            <a:stCxn id="24" idx="3"/>
            <a:endCxn id="27" idx="1"/>
          </p:cNvCxnSpPr>
          <p:nvPr/>
        </p:nvCxnSpPr>
        <p:spPr>
          <a:xfrm>
            <a:off x="6953250" y="4419600"/>
            <a:ext cx="571500" cy="0"/>
          </a:xfrm>
          <a:prstGeom prst="straightConnector1">
            <a:avLst/>
          </a:prstGeom>
          <a:ln w="23813">
            <a:solidFill>
              <a:srgbClr val="00A8CC"/>
            </a:solidFill>
            <a:prstDash val="solid"/>
            <a:tailEnd type="triangle" w="sm" len="sm"/>
          </a:ln>
        </p:spPr>
      </p:cxnSp>
      <p:cxnSp>
        <p:nvCxnSpPr>
          <p:cNvPr id="246" name="Straight Arrow Connector 245"/>
          <p:cNvCxnSpPr>
            <a:stCxn id="27" idx="3"/>
            <a:endCxn id="30" idx="1"/>
          </p:cNvCxnSpPr>
          <p:nvPr/>
        </p:nvCxnSpPr>
        <p:spPr>
          <a:xfrm>
            <a:off x="9286875" y="4419600"/>
            <a:ext cx="571500" cy="0"/>
          </a:xfrm>
          <a:prstGeom prst="straightConnector1">
            <a:avLst/>
          </a:prstGeom>
          <a:ln w="23813">
            <a:solidFill>
              <a:srgbClr val="39D98A"/>
            </a:solidFill>
            <a:prstDash val="solid"/>
            <a:tailEnd type="triangle" w="sm" len="sm"/>
          </a:ln>
        </p:spPr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9E24920-59F7-42CC-B39C-1DA57D411C11}"/>
              </a:ext>
            </a:extLst>
          </p:cNvPr>
          <p:cNvSpPr>
            <a:spLocks noGrp="1"/>
          </p:cNvSpPr>
          <p:nvPr/>
        </p:nvSpPr>
        <p:spPr>
          <a:xfrm>
            <a:off x="6286500" y="5286375"/>
            <a:ext cx="1809750" cy="628650"/>
          </a:xfrm>
          <a:prstGeom prst="roundRect">
            <a:avLst>
              <a:gd name="adj" fmla="val 12121"/>
            </a:avLst>
          </a:prstGeom>
          <a:solidFill>
            <a:srgbClr val="0F141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08E35E-5E4A-41BF-B557-47BEC370F586}"/>
              </a:ext>
            </a:extLst>
          </p:cNvPr>
          <p:cNvSpPr>
            <a:spLocks noGrp="1"/>
          </p:cNvSpPr>
          <p:nvPr/>
        </p:nvSpPr>
        <p:spPr>
          <a:xfrm>
            <a:off x="6381750" y="541972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Extra calls?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C5E9739-2B5A-4C3C-BDAF-3E1A105655E5}"/>
              </a:ext>
            </a:extLst>
          </p:cNvPr>
          <p:cNvSpPr>
            <a:spLocks noGrp="1"/>
          </p:cNvSpPr>
          <p:nvPr/>
        </p:nvSpPr>
        <p:spPr>
          <a:xfrm>
            <a:off x="8763000" y="5286375"/>
            <a:ext cx="1809750" cy="628650"/>
          </a:xfrm>
          <a:prstGeom prst="roundRect">
            <a:avLst>
              <a:gd name="adj" fmla="val 12121"/>
            </a:avLst>
          </a:prstGeom>
          <a:solidFill>
            <a:srgbClr val="0F141A"/>
          </a:solidFill>
          <a:ln w="19050">
            <a:solidFill>
              <a:srgbClr val="FF5A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5F22E3-39C0-4813-82EC-9D7F26F51D7C}"/>
              </a:ext>
            </a:extLst>
          </p:cNvPr>
          <p:cNvSpPr>
            <a:spLocks noGrp="1"/>
          </p:cNvSpPr>
          <p:nvPr/>
        </p:nvSpPr>
        <p:spPr>
          <a:xfrm>
            <a:off x="8858250" y="54197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00" b="1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Count full path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1D8AEA-FA9B-41A5-ACA3-DD9CFBABA317}"/>
              </a:ext>
            </a:extLst>
          </p:cNvPr>
          <p:cNvSpPr>
            <a:spLocks noGrp="1"/>
          </p:cNvSpPr>
          <p:nvPr/>
        </p:nvSpPr>
        <p:spPr>
          <a:xfrm>
            <a:off x="8858250" y="5753100"/>
            <a:ext cx="16192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555" lnSpcReduction="20000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900" b="0">
                <a:solidFill>
                  <a:srgbClr val="C6CBD2"/>
                </a:solidFill>
                <a:latin typeface="Amazon Ember Display"/>
                <a:ea typeface="Amazon Ember Display"/>
                <a:cs typeface="Amazon Ember Display"/>
              </a:rPr>
              <a:t>reads + writes</a:t>
            </a:r>
          </a:p>
        </p:txBody>
      </p:sp>
      <p:cxnSp>
        <p:nvCxnSpPr>
          <p:cNvPr id="252" name="Elbow Connector 251"/>
          <p:cNvCxnSpPr>
            <a:stCxn id="27" idx="2"/>
            <a:endCxn id="36" idx="0"/>
          </p:cNvCxnSpPr>
          <p:nvPr/>
        </p:nvCxnSpPr>
        <p:spPr>
          <a:xfrm flipH="1">
            <a:off x="7191375" y="4838700"/>
            <a:ext cx="1214438" cy="4476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FF9900"/>
            </a:solidFill>
            <a:prstDash val="dash"/>
            <a:tailEnd type="triangle" w="sm" len="sm"/>
          </a:ln>
        </p:spPr>
      </p:cxnSp>
      <p:cxnSp>
        <p:nvCxnSpPr>
          <p:cNvPr id="253" name="Straight Arrow Connector 252"/>
          <p:cNvCxnSpPr>
            <a:stCxn id="36" idx="3"/>
            <a:endCxn id="38" idx="1"/>
          </p:cNvCxnSpPr>
          <p:nvPr/>
        </p:nvCxnSpPr>
        <p:spPr>
          <a:xfrm>
            <a:off x="8096250" y="5600700"/>
            <a:ext cx="666750" cy="0"/>
          </a:xfrm>
          <a:prstGeom prst="straightConnector1">
            <a:avLst/>
          </a:prstGeom>
          <a:ln w="23813">
            <a:solidFill>
              <a:srgbClr val="FF5A67"/>
            </a:solidFill>
            <a:prstDash val="solid"/>
            <a:tailEnd type="triangle" w="sm" len="sm"/>
          </a:ln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9AFAA4A-150C-4918-9319-9D9F8BB377B7}"/>
              </a:ext>
            </a:extLst>
          </p:cNvPr>
          <p:cNvSpPr>
            <a:spLocks noGrp="1"/>
          </p:cNvSpPr>
          <p:nvPr/>
        </p:nvSpPr>
        <p:spPr>
          <a:xfrm>
            <a:off x="476250" y="6257925"/>
            <a:ext cx="1104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defRPr>
            </a:pPr>
            <a:r>
              <a:rPr sz="675" b="0" dirty="0">
                <a:solidFill>
                  <a:srgbClr val="7E8792"/>
                </a:solidFill>
                <a:latin typeface="Amazon Ember Mono"/>
                <a:ea typeface="Amazon Ember Mono"/>
                <a:cs typeface="Amazon Ember Mono"/>
              </a:rPr>
              <a:t>Illustrative sizes · AWS IoT Core pricing: shadow operations use 1 KB record-size increments</a:t>
            </a:r>
          </a:p>
        </p:txBody>
      </p:sp>
    </p:spTree>
    <p:extLst>
      <p:ext uri="{BB962C8B-B14F-4D97-AF65-F5344CB8AC3E}">
        <p14:creationId xmlns:p14="http://schemas.microsoft.com/office/powerpoint/2010/main" val="530721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967D-6920-D192-EC35-A732196D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9322F1-E181-2E08-39AD-6D7951B3883F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lang="en-US" sz="3150" b="0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Results of the classical vs named shadow experiment</a:t>
            </a:r>
            <a:endParaRPr sz="3150" b="0" dirty="0">
              <a:solidFill>
                <a:srgbClr val="FFFFFF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163136-9014-3DA4-6ED7-ED38E6E208BA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75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rPr>
              <a:t>Classic: 7,831 bytes. Settings: 1,559 bytes. Each stored record rounds to 1,024-byte units.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9B42EB5-CF69-9A77-98D1-C0A5CA81AF1A}"/>
              </a:ext>
            </a:extLst>
          </p:cNvPr>
          <p:cNvGraphicFramePr/>
          <p:nvPr/>
        </p:nvGraphicFramePr>
        <p:xfrm>
          <a:off x="1923238" y="1506071"/>
          <a:ext cx="8345524" cy="5109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3672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30787-03B4-3D1F-29C3-2BE39B65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91654A-2559-E806-0306-D88AD642512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lang="en-US" sz="3150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Results of the classical vs named shadow experiment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834343-0AB8-A59D-5DC7-854A0D147B39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1275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rPr>
              <a:t>Classic: 7,831 bytes. Settings: 1,559 bytes. Each stored record rounds to 1,024-byte units.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379E26BB-58B5-65B9-72EA-43711DE9F60D}"/>
              </a:ext>
            </a:extLst>
          </p:cNvPr>
          <p:cNvGraphicFramePr/>
          <p:nvPr/>
        </p:nvGraphicFramePr>
        <p:xfrm>
          <a:off x="571500" y="1619250"/>
          <a:ext cx="695325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410FCC0-2440-D63B-0529-BDF7120E497B}"/>
              </a:ext>
            </a:extLst>
          </p:cNvPr>
          <p:cNvSpPr>
            <a:spLocks noGrp="1"/>
          </p:cNvSpPr>
          <p:nvPr/>
        </p:nvSpPr>
        <p:spPr>
          <a:xfrm>
            <a:off x="8191500" y="1952625"/>
            <a:ext cx="3286125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150" b="1">
                <a:solidFill>
                  <a:srgbClr val="00D6C7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6150" b="1" dirty="0">
                <a:solidFill>
                  <a:srgbClr val="00D6C7"/>
                </a:solidFill>
                <a:latin typeface="Amazon Ember Display"/>
                <a:ea typeface="Amazon Ember Display"/>
                <a:cs typeface="Amazon Ember Display"/>
              </a:rPr>
              <a:t>46.1%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26A10-47D9-6937-6FAA-4578139443B3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250" b="0" dirty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rPr>
              <a:t>fewer estimated units</a:t>
            </a:r>
            <a:br>
              <a:rPr lang="en-US" sz="2250" b="0" dirty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rPr>
            </a:br>
            <a:r>
              <a:rPr lang="en-US" sz="2400" dirty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rPr>
              <a:t>over the same 300 actions</a:t>
            </a:r>
          </a:p>
          <a:p>
            <a:pPr>
              <a:defRPr sz="22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endParaRPr sz="2250" b="0" dirty="0">
              <a:solidFill>
                <a:schemeClr val="bg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E80B6-7935-FA29-5F35-436D5DEC4DF5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143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025" b="0" dirty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rPr>
              <a:t>Estimated units per logical action</a:t>
            </a:r>
          </a:p>
        </p:txBody>
      </p:sp>
    </p:spTree>
    <p:extLst>
      <p:ext uri="{BB962C8B-B14F-4D97-AF65-F5344CB8AC3E}">
        <p14:creationId xmlns:p14="http://schemas.microsoft.com/office/powerpoint/2010/main" val="1614219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E5CE-6419-425B-C266-8CD71F6E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083375-7DD8-5101-C1F4-4B65507D2C1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lang="en-US" sz="3150" dirty="0">
                <a:solidFill>
                  <a:srgbClr val="FFFFFF"/>
                </a:solidFill>
                <a:latin typeface="Amazon Ember Display"/>
                <a:ea typeface="Amazon Ember Display"/>
                <a:cs typeface="Amazon Ember Display"/>
              </a:rPr>
              <a:t>Results of the classical vs named shadow experiment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A01BA2-312E-325C-66DC-C3BB6B23F178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100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rPr>
              <a:t>API calls per logical action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B927C1-4627-BF3C-A9C6-AF1302EB4C7D}"/>
              </a:ext>
            </a:extLst>
          </p:cNvPr>
          <p:cNvSpPr>
            <a:spLocks noGrp="1"/>
          </p:cNvSpPr>
          <p:nvPr/>
        </p:nvSpPr>
        <p:spPr>
          <a:xfrm>
            <a:off x="6334125" y="1428750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defRPr>
            </a:pPr>
            <a:r>
              <a:rPr sz="2100" b="0">
                <a:solidFill>
                  <a:srgbClr val="B8C2CC"/>
                </a:solidFill>
                <a:latin typeface="Amazon Ember Display"/>
                <a:ea typeface="Amazon Ember Display"/>
                <a:cs typeface="Amazon Ember Display"/>
              </a:rPr>
              <a:t>Observed action p95, ms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96F7E05A-45AB-C07B-FE2A-E8F51A89DA4F}"/>
              </a:ext>
            </a:extLst>
          </p:cNvPr>
          <p:cNvGraphicFramePr/>
          <p:nvPr/>
        </p:nvGraphicFramePr>
        <p:xfrm>
          <a:off x="571500" y="2095500"/>
          <a:ext cx="5143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54EE4F09-A854-819E-B73A-D62462E5E74E}"/>
              </a:ext>
            </a:extLst>
          </p:cNvPr>
          <p:cNvGraphicFramePr/>
          <p:nvPr/>
        </p:nvGraphicFramePr>
        <p:xfrm>
          <a:off x="6334125" y="2095500"/>
          <a:ext cx="5143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66237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91DAFD-395B-1208-FCE5-6EFC6C51D3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Meter the touched record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C8929-B2D3-B672-E7A1-C02AEB92B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700905"/>
            <a:ext cx="6396066" cy="118970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meters both shadow reads and updates in 1 KB increments of the shadow record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Illustrative: one update to a 6 KB classic record counts as six shadow operations; an update to a 2 KB named record counts as two.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2A008-7635-6FAE-5158-F62BFB0AB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Migration and compatibility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AC4C7-54C7-5593-B814-51A6A81CD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3484940"/>
            <a:ext cx="6396066" cy="1168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fields by how they are read and updated, so frequent operations touch smaller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total shadow operations and record sizes before claiming a saving.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3FD99B-E58E-5048-654E-F44B566B2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Worst case: migration or access adds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2D2480-F754-7927-B0DA-493D42E5C6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5247512"/>
            <a:ext cx="6396066" cy="11897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stalled migration needs a retry path and a clear intermediate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Reading every named shadow to rebuild the old full view can cost more than the original read.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FE861E-7D6A-3E4B-A923-6538EC0F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Pattern 3:</a:t>
            </a:r>
            <a:br>
              <a:rPr lang="en-US" dirty="0"/>
            </a:br>
            <a:r>
              <a:rPr lang="en-US" dirty="0"/>
              <a:t>Migrating from one classic shadow to named shadows</a:t>
            </a:r>
          </a:p>
        </p:txBody>
      </p:sp>
    </p:spTree>
    <p:extLst>
      <p:ext uri="{BB962C8B-B14F-4D97-AF65-F5344CB8AC3E}">
        <p14:creationId xmlns:p14="http://schemas.microsoft.com/office/powerpoint/2010/main" val="2571189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47CD-E066-AB10-A19E-6A769885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A2E0AB-B447-041D-B37A-7FF2EF4C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Calculator Mindset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2FFF43-5665-97C2-1C1C-0E8D404C63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525835"/>
              </p:ext>
            </p:extLst>
          </p:nvPr>
        </p:nvGraphicFramePr>
        <p:xfrm>
          <a:off x="552450" y="1952625"/>
          <a:ext cx="11087100" cy="2857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Architecture change</a:t>
                      </a:r>
                    </a:p>
                  </a:txBody>
                  <a:tcPr>
                    <a:solidFill>
                      <a:srgbClr val="2028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Remove or reduce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Add or retain</a:t>
                      </a:r>
                    </a:p>
                  </a:txBody>
                  <a:tcPr>
                    <a:solidFill>
                      <a:srgbClr val="0F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Layered reads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Repeated shadow reads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DynamoDB reads, writes, and fallback capacity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en-US" sz="1125" dirty="0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Classic -&gt; Named shadow</a:t>
                      </a:r>
                      <a:endParaRPr sz="1125" dirty="0">
                        <a:solidFill>
                          <a:srgbClr val="FFFFFF"/>
                        </a:solidFill>
                        <a:latin typeface="Amazon Ember Display"/>
                        <a:ea typeface="Amazon Ember Display"/>
                        <a:cs typeface="Amazon Ember Display"/>
                      </a:endParaRPr>
                    </a:p>
                  </a:txBody>
                  <a:tcPr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25" dirty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Metered units on frequent shadow operations</a:t>
                      </a:r>
                      <a:endParaRPr sz="1125" dirty="0">
                        <a:solidFill>
                          <a:srgbClr val="C6CBD2"/>
                        </a:solidFill>
                        <a:latin typeface="Amazon Ember Display"/>
                        <a:ea typeface="Amazon Ember Display"/>
                        <a:cs typeface="Amazon Ember Display"/>
                      </a:endParaRPr>
                    </a:p>
                  </a:txBody>
                  <a:tcPr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25" dirty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Migration work, capability lookups, and extra shadow calls</a:t>
                      </a:r>
                      <a:endParaRPr sz="1125" dirty="0">
                        <a:solidFill>
                          <a:srgbClr val="C6CBD2"/>
                        </a:solidFill>
                        <a:latin typeface="Amazon Ember Display"/>
                        <a:ea typeface="Amazon Ember Display"/>
                        <a:cs typeface="Amazon Ember Display"/>
                      </a:endParaRPr>
                    </a:p>
                  </a:txBody>
                  <a:tcPr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lang="en-US" sz="1125" dirty="0">
                          <a:solidFill>
                            <a:srgbClr val="FFFFFF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Boundary Projection</a:t>
                      </a:r>
                      <a:endParaRPr sz="1125" dirty="0">
                        <a:solidFill>
                          <a:srgbClr val="FFFFFF"/>
                        </a:solidFill>
                        <a:latin typeface="Amazon Ember Display"/>
                        <a:ea typeface="Amazon Ember Display"/>
                        <a:cs typeface="Amazon Ember Display"/>
                      </a:endParaRP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MQTT units and unused bytes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dirty="0">
                          <a:solidFill>
                            <a:srgbClr val="C6CBD2"/>
                          </a:solidFill>
                          <a:latin typeface="Amazon Ember Display"/>
                          <a:ea typeface="Amazon Ember Display"/>
                          <a:cs typeface="Amazon Ember Display"/>
                        </a:rPr>
                        <a:t>Rule action, Kinesis, and schema ownership</a:t>
                      </a:r>
                    </a:p>
                  </a:txBody>
                  <a:tcPr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448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91DAFD-395B-1208-FCE5-6EFC6C51D3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Cache with a field policy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C8929-B2D3-B672-E7A1-C02AEB92B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2056" y="1588376"/>
            <a:ext cx="6396066" cy="118970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 fields with an explicit freshness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 missing from false-like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 TTL cleanup and read-time freshness separately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2A008-7635-6FAE-5158-F62BFB0AB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56" y="2529271"/>
            <a:ext cx="6396066" cy="424732"/>
          </a:xfrm>
        </p:spPr>
        <p:txBody>
          <a:bodyPr/>
          <a:lstStyle/>
          <a:p>
            <a:r>
              <a:rPr lang="en-US" dirty="0"/>
              <a:t>Partition and migrate deliberately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AC4C7-54C7-5593-B814-51A6A81CD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2056" y="2969407"/>
            <a:ext cx="6396066" cy="116824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fields by how they are read and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 fields to named shadows before clearing classic; retry incomplete migrations.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3FD99B-E58E-5048-654E-F44B566B2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2056" y="3852727"/>
            <a:ext cx="6396066" cy="424732"/>
          </a:xfrm>
        </p:spPr>
        <p:txBody>
          <a:bodyPr/>
          <a:lstStyle/>
          <a:p>
            <a:r>
              <a:rPr lang="en-US" dirty="0"/>
              <a:t>Make projections testable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2D2480-F754-7927-B0DA-493D42E5C6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2056" y="4277459"/>
            <a:ext cx="6396066" cy="111075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the projection as a consumer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every required field and business outcome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5FE861E-7D6A-3E4B-A923-6538EC0F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39" y="1106576"/>
            <a:ext cx="3591179" cy="2322423"/>
          </a:xfrm>
        </p:spPr>
        <p:txBody>
          <a:bodyPr>
            <a:normAutofit/>
          </a:bodyPr>
          <a:lstStyle/>
          <a:p>
            <a:r>
              <a:rPr lang="en-US" dirty="0"/>
              <a:t>Best Practices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Suggestions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1074D44-2261-1DD0-22FF-32E5E376FDF9}"/>
              </a:ext>
            </a:extLst>
          </p:cNvPr>
          <p:cNvSpPr txBox="1">
            <a:spLocks/>
          </p:cNvSpPr>
          <p:nvPr/>
        </p:nvSpPr>
        <p:spPr>
          <a:xfrm>
            <a:off x="4782056" y="4948413"/>
            <a:ext cx="6396066" cy="424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000" b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Count every replacement cost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C81E4FC-74B1-7BA4-0EF9-773360960853}"/>
              </a:ext>
            </a:extLst>
          </p:cNvPr>
          <p:cNvSpPr txBox="1">
            <a:spLocks/>
          </p:cNvSpPr>
          <p:nvPr/>
        </p:nvSpPr>
        <p:spPr>
          <a:xfrm>
            <a:off x="4782056" y="5373145"/>
            <a:ext cx="6396066" cy="1110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 shadow, messaging, rules and downstream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origin load when the cache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916951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A13E-8AE9-CDF4-5987-6628BBE1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5160935"/>
      </p:ext>
    </p:extLst>
  </p:cSld>
  <p:clrMapOvr>
    <a:masterClrMapping/>
  </p:clrMapOvr>
</p:sld>
</file>

<file path=ppt/theme/theme1.xml><?xml version="1.0" encoding="utf-8"?>
<a:theme xmlns:a="http://schemas.openxmlformats.org/drawingml/2006/main" name="AWS Brand Event Template 2025 - Dark">
  <a:themeElements>
    <a:clrScheme name="Custom 1">
      <a:dk1>
        <a:srgbClr val="232F3E"/>
      </a:dk1>
      <a:lt1>
        <a:srgbClr val="FFFFFF"/>
      </a:lt1>
      <a:dk2>
        <a:srgbClr val="232F3E"/>
      </a:dk2>
      <a:lt2>
        <a:srgbClr val="E8E8E8"/>
      </a:lt2>
      <a:accent1>
        <a:srgbClr val="00D6C7"/>
      </a:accent1>
      <a:accent2>
        <a:srgbClr val="007DFF"/>
      </a:accent2>
      <a:accent3>
        <a:srgbClr val="E433FF"/>
      </a:accent3>
      <a:accent4>
        <a:srgbClr val="952EFF"/>
      </a:accent4>
      <a:accent5>
        <a:srgbClr val="AB0071"/>
      </a:accent5>
      <a:accent6>
        <a:srgbClr val="43004C"/>
      </a:accent6>
      <a:hlink>
        <a:srgbClr val="FFFFFF"/>
      </a:hlink>
      <a:folHlink>
        <a:srgbClr val="FFFFFF"/>
      </a:folHlink>
    </a:clrScheme>
    <a:fontScheme name="Office">
      <a:majorFont>
        <a:latin typeface="AmazonEmberDisplay_Bd.ttf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EmberDisplay_Rg.ttf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91440" tIns="45720" rIns="91440" bIns="45720" rtlCol="0" anchor="ctr">
        <a:normAutofit/>
      </a:bodyPr>
      <a:lstStyle>
        <a:defPPr marL="0" marR="0" indent="0" algn="l" defTabSz="914400" rtl="0" eaLnBrk="1" fontAlgn="auto" latinLnBrk="0" hangingPunct="1">
          <a:lnSpc>
            <a:spcPct val="9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kern="1200" cap="none" spc="0" normalizeH="0" baseline="0" noProof="0" dirty="0" err="1" smtClean="0">
            <a:ln>
              <a:noFill/>
            </a:ln>
            <a:effectLst/>
            <a:uLnTx/>
            <a:uFillTx/>
            <a:latin typeface="Amazon Ember Display" panose="020F0603020204020204" pitchFamily="34" charset="0"/>
            <a:ea typeface="Amazon Ember Display" panose="020F0603020204020204" pitchFamily="34" charset="0"/>
            <a:cs typeface="Amazon Ember Display" panose="020F06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WS_RIV">
    <a:dk1>
      <a:srgbClr val="FFFFFF"/>
    </a:dk1>
    <a:lt1>
      <a:srgbClr val="232E3D"/>
    </a:lt1>
    <a:dk2>
      <a:srgbClr val="E7E7E7"/>
    </a:dk2>
    <a:lt2>
      <a:srgbClr val="232E3D"/>
    </a:lt2>
    <a:accent1>
      <a:srgbClr val="43004C"/>
    </a:accent1>
    <a:accent2>
      <a:srgbClr val="AA0071"/>
    </a:accent2>
    <a:accent3>
      <a:srgbClr val="942EFF"/>
    </a:accent3>
    <a:accent4>
      <a:srgbClr val="E333FF"/>
    </a:accent4>
    <a:accent5>
      <a:srgbClr val="007DFF"/>
    </a:accent5>
    <a:accent6>
      <a:srgbClr val="00D5C7"/>
    </a:accent6>
    <a:hlink>
      <a:srgbClr val="2E77FA"/>
    </a:hlink>
    <a:folHlink>
      <a:srgbClr val="2E77FA"/>
    </a:folHlink>
  </a:clrScheme>
  <a:fontScheme name="Office">
    <a:majorFont>
      <a:latin typeface="AmazonEmberDisplay_Bd.ttf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mazonEmberDisplay_Rg.ttf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33272</TotalTime>
  <Words>1716</Words>
  <Application>Microsoft Macintosh PowerPoint</Application>
  <PresentationFormat>Widescreen</PresentationFormat>
  <Paragraphs>279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Amazon Ember Display</vt:lpstr>
      <vt:lpstr>Amazon Ember Mono</vt:lpstr>
      <vt:lpstr>AmazonEmberDisplay_Rg.ttf</vt:lpstr>
      <vt:lpstr>Aptos</vt:lpstr>
      <vt:lpstr>Arial</vt:lpstr>
      <vt:lpstr>Lucida Console</vt:lpstr>
      <vt:lpstr>AWS Brand Event Template 2025 - Dark</vt:lpstr>
      <vt:lpstr>Death by a Thousand Shadows: Caching and Cost-Cutting on AWS IoT Core</vt:lpstr>
      <vt:lpstr>Agenda</vt:lpstr>
      <vt:lpstr>Areas of IoT</vt:lpstr>
      <vt:lpstr>AWS IoT Core</vt:lpstr>
      <vt:lpstr>Device Shadow Anatomy</vt:lpstr>
      <vt:lpstr>AWS IoT Core Pricing</vt:lpstr>
      <vt:lpstr>Story time – the project we inherited</vt:lpstr>
      <vt:lpstr>The evidence appeared in three places</vt:lpstr>
      <vt:lpstr>Three architecture improvements</vt:lpstr>
      <vt:lpstr>Pattern 1: Layered Shadow Reads</vt:lpstr>
      <vt:lpstr>Pattern 1: Layered Shadow Reads</vt:lpstr>
      <vt:lpstr>Pattern 1: Layered Shadow Reads</vt:lpstr>
      <vt:lpstr>Pattern 1: Layered Shadow Reads - Results</vt:lpstr>
      <vt:lpstr>Pattern 1: Layered Shadow Reads - Results</vt:lpstr>
      <vt:lpstr>Why DynamoDB for this cache?</vt:lpstr>
      <vt:lpstr>Pattern 1: Layered Shadow Reads</vt:lpstr>
      <vt:lpstr>Pattern 2: Project smaller downstream events</vt:lpstr>
      <vt:lpstr>PowerPoint Presentation</vt:lpstr>
      <vt:lpstr>PowerPoint Presentation</vt:lpstr>
      <vt:lpstr>Why projection happens in IoT SQL</vt:lpstr>
      <vt:lpstr>Pattern 2: Boundary Projection - Results</vt:lpstr>
      <vt:lpstr>Pattern 2: Boundary Projection</vt:lpstr>
      <vt:lpstr>Pattern 3: Classic vs Named Shadows</vt:lpstr>
      <vt:lpstr>Are named shadows necessary?</vt:lpstr>
      <vt:lpstr>PowerPoint Presentation</vt:lpstr>
      <vt:lpstr>PowerPoint Presentation</vt:lpstr>
      <vt:lpstr>PowerPoint Presentation</vt:lpstr>
      <vt:lpstr>PowerPoint Presentation</vt:lpstr>
      <vt:lpstr>Pattern 3: Migrating from one classic shadow to named shadows</vt:lpstr>
      <vt:lpstr>Calculator Mindset</vt:lpstr>
      <vt:lpstr>Best Practices and Suggestions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 Rasetina</dc:creator>
  <cp:lastModifiedBy>Matia Rasetina</cp:lastModifiedBy>
  <cp:revision>54</cp:revision>
  <dcterms:created xsi:type="dcterms:W3CDTF">2026-04-04T15:01:39Z</dcterms:created>
  <dcterms:modified xsi:type="dcterms:W3CDTF">2026-10-27T20:41:04Z</dcterms:modified>
</cp:coreProperties>
</file>